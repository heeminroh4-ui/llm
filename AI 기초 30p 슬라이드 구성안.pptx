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86" r:id="rId4"/>
    <p:sldId id="288" r:id="rId5"/>
    <p:sldId id="28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18288000" cy="10287000"/>
  <p:notesSz cx="6858000" cy="9144000"/>
  <p:embeddedFontLst>
    <p:embeddedFont>
      <p:font typeface="210 햄스터 Bold" panose="020B0600000101010101" charset="-127"/>
      <p:regular r:id="rId35"/>
    </p:embeddedFont>
    <p:embeddedFont>
      <p:font typeface="210 햄스터 Light" panose="020B0600000101010101" charset="-127"/>
      <p:regular r:id="rId36"/>
    </p:embeddedFont>
    <p:embeddedFont>
      <p:font typeface="Tlab 모던라이프 Light" panose="020B0600000101010101" charset="-127"/>
      <p:regular r:id="rId37"/>
    </p:embeddedFont>
    <p:embeddedFont>
      <p:font typeface="Tlab 모던라이프 Medium" panose="020B0600000101010101" charset="-127"/>
      <p:regular r:id="rId38"/>
    </p:embeddedFont>
    <p:embeddedFont>
      <p:font typeface="맑은 고딕" panose="020B0503020000020004" pitchFamily="50" charset="-127"/>
      <p:regular r:id="rId39"/>
      <p:bold r:id="rId40"/>
    </p:embeddedFont>
    <p:embeddedFont>
      <p:font typeface="Calibri" panose="020F0502020204030204" pitchFamily="34" charset="0"/>
      <p:regular r:id="rId41"/>
      <p:bold r:id="rId42"/>
      <p:italic r:id="rId43"/>
      <p:boldItalic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8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eminroh4-ui/LLM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91854" y="787708"/>
            <a:ext cx="6921360" cy="622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spc="-176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AI 기초 (입문)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45273" y="952453"/>
            <a:ext cx="3914027" cy="19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24"/>
              </a:lnSpc>
            </a:pPr>
            <a:r>
              <a:rPr lang="en-US" sz="1498" spc="-73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한국폴리텍대학 AI 입문 강의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12974" y="3429001"/>
            <a:ext cx="9462051" cy="382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강사: 노희민 (정답풀이)  |  한국폴리텍대학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24549" y="1732078"/>
            <a:ext cx="7038901" cy="1506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23"/>
              </a:lnSpc>
            </a:pPr>
            <a:r>
              <a:rPr lang="en-US" sz="5196" spc="-249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AI 기초 (입문)</a:t>
            </a:r>
          </a:p>
          <a:p>
            <a:pPr marL="0" lvl="0" indent="0" algn="ctr">
              <a:lnSpc>
                <a:spcPts val="5923"/>
              </a:lnSpc>
            </a:pPr>
            <a:r>
              <a:rPr lang="en-US" sz="5196" spc="-249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인공지능 첫걸음</a:t>
            </a:r>
          </a:p>
        </p:txBody>
      </p:sp>
      <p:sp>
        <p:nvSpPr>
          <p:cNvPr id="9" name="Freeform 9"/>
          <p:cNvSpPr/>
          <p:nvPr/>
        </p:nvSpPr>
        <p:spPr>
          <a:xfrm>
            <a:off x="6355543" y="3376676"/>
            <a:ext cx="8946744" cy="10433520"/>
          </a:xfrm>
          <a:custGeom>
            <a:avLst/>
            <a:gdLst/>
            <a:ahLst/>
            <a:cxnLst/>
            <a:rect l="l" t="t" r="r" b="b"/>
            <a:pathLst>
              <a:path w="8946744" h="10433520">
                <a:moveTo>
                  <a:pt x="0" y="0"/>
                </a:moveTo>
                <a:lnTo>
                  <a:pt x="8946744" y="0"/>
                </a:lnTo>
                <a:lnTo>
                  <a:pt x="8946744" y="10433521"/>
                </a:lnTo>
                <a:lnTo>
                  <a:pt x="0" y="10433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45273" y="952453"/>
            <a:ext cx="3914027" cy="19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24"/>
              </a:lnSpc>
            </a:pPr>
            <a:r>
              <a:rPr lang="en-US" sz="1498" spc="-73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노희민(정답풀이) / 한국폴리텍대학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91854" y="816283"/>
            <a:ext cx="6921360" cy="30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83"/>
              </a:lnSpc>
            </a:pPr>
            <a:r>
              <a:rPr lang="ko-KR" altLang="en-US" sz="1845" spc="-90" dirty="0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강사 소개</a:t>
            </a:r>
            <a:endParaRPr lang="en-US" sz="1845" spc="-90" dirty="0">
              <a:solidFill>
                <a:srgbClr val="000000"/>
              </a:solidFill>
              <a:latin typeface="210 햄스터 Bold"/>
              <a:ea typeface="210 햄스터 Bold"/>
              <a:cs typeface="210 햄스터 Bold"/>
              <a:sym typeface="210 햄스터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67B310-90BB-48F6-B4C1-BBD46CB6D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7420" y="2550320"/>
            <a:ext cx="9491637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ko-KR" altLang="en-US" sz="9000"/>
              <a:t>아는 것이 힘이다</a:t>
            </a:r>
            <a:r>
              <a:rPr lang="en-US" altLang="ko-KR" sz="9000"/>
              <a:t>. </a:t>
            </a:r>
          </a:p>
          <a:p>
            <a:pPr eaLnBrk="1" latinLnBrk="1" hangingPunct="1"/>
            <a:r>
              <a:rPr lang="en-US" altLang="ko-KR" sz="9000">
                <a:solidFill>
                  <a:srgbClr val="FF0000"/>
                </a:solidFill>
              </a:rPr>
              <a:t>(Know)       (</a:t>
            </a:r>
            <a:r>
              <a:rPr lang="ko-KR" altLang="en-US" sz="9000">
                <a:solidFill>
                  <a:srgbClr val="FF0000"/>
                </a:solidFill>
              </a:rPr>
              <a:t>힘이다</a:t>
            </a:r>
            <a:r>
              <a:rPr lang="en-US" altLang="ko-KR" sz="9000">
                <a:solidFill>
                  <a:srgbClr val="FF0000"/>
                </a:solidFill>
              </a:rPr>
              <a:t>)</a:t>
            </a:r>
          </a:p>
          <a:p>
            <a:pPr eaLnBrk="1" latinLnBrk="1" hangingPunct="1"/>
            <a:r>
              <a:rPr lang="ko-KR" altLang="en-US" sz="9000"/>
              <a:t>노                희민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B3B0D5-9279-4541-B339-016B0248A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555082"/>
            <a:ext cx="9339416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ko-KR" altLang="en-US" sz="9000" dirty="0">
                <a:solidFill>
                  <a:srgbClr val="0000CC"/>
                </a:solidFill>
              </a:rPr>
              <a:t>아는 것이 힘이다</a:t>
            </a:r>
            <a:r>
              <a:rPr lang="en-US" altLang="ko-KR" sz="9000" dirty="0">
                <a:solidFill>
                  <a:srgbClr val="0000CC"/>
                </a:solidFill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45273" y="952453"/>
            <a:ext cx="3914027" cy="19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24"/>
              </a:lnSpc>
            </a:pPr>
            <a:r>
              <a:rPr lang="en-US" sz="1498" spc="-73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노희민(정답풀이) / 한국폴리텍대학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91854" y="816283"/>
            <a:ext cx="6921360" cy="30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83"/>
              </a:lnSpc>
            </a:pPr>
            <a:r>
              <a:rPr lang="ko-KR" altLang="en-US" sz="1845" spc="-90" dirty="0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강사소개</a:t>
            </a:r>
            <a:endParaRPr lang="en-US" sz="1845" spc="-90" dirty="0">
              <a:solidFill>
                <a:srgbClr val="000000"/>
              </a:solidFill>
              <a:latin typeface="210 햄스터 Bold"/>
              <a:ea typeface="210 햄스터 Bold"/>
              <a:cs typeface="210 햄스터 Bold"/>
              <a:sym typeface="210 햄스터 Bold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73F9513-833A-4AF4-AC99-E6BA4BFCB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576100"/>
              </p:ext>
            </p:extLst>
          </p:nvPr>
        </p:nvGraphicFramePr>
        <p:xfrm>
          <a:off x="1752600" y="1687078"/>
          <a:ext cx="15973424" cy="8028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4474">
                  <a:extLst>
                    <a:ext uri="{9D8B030D-6E8A-4147-A177-3AD203B41FA5}">
                      <a16:colId xmlns:a16="http://schemas.microsoft.com/office/drawing/2014/main" val="3052015181"/>
                    </a:ext>
                  </a:extLst>
                </a:gridCol>
                <a:gridCol w="7577394">
                  <a:extLst>
                    <a:ext uri="{9D8B030D-6E8A-4147-A177-3AD203B41FA5}">
                      <a16:colId xmlns:a16="http://schemas.microsoft.com/office/drawing/2014/main" val="1154955634"/>
                    </a:ext>
                  </a:extLst>
                </a:gridCol>
                <a:gridCol w="3071556">
                  <a:extLst>
                    <a:ext uri="{9D8B030D-6E8A-4147-A177-3AD203B41FA5}">
                      <a16:colId xmlns:a16="http://schemas.microsoft.com/office/drawing/2014/main" val="4250360079"/>
                    </a:ext>
                  </a:extLst>
                </a:gridCol>
              </a:tblGrid>
              <a:tr h="1126317">
                <a:tc rowSpan="2"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solidFill>
                          <a:schemeClr val="tx1"/>
                        </a:solidFill>
                      </a:endParaRPr>
                    </a:p>
                  </a:txBody>
                  <a:tcPr marL="137162" marR="137162" marT="68571" marB="685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27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2700" dirty="0">
                          <a:solidFill>
                            <a:schemeClr val="tx1"/>
                          </a:solidFill>
                        </a:rPr>
                        <a:t>성명 </a:t>
                      </a:r>
                      <a:r>
                        <a:rPr lang="en-US" altLang="ko-KR" sz="27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2700" dirty="0" err="1">
                          <a:solidFill>
                            <a:schemeClr val="tx1"/>
                          </a:solidFill>
                        </a:rPr>
                        <a:t>노희민</a:t>
                      </a:r>
                      <a:endParaRPr lang="ko-KR" altLang="en-US" sz="2700" dirty="0">
                        <a:solidFill>
                          <a:schemeClr val="tx1"/>
                        </a:solidFill>
                      </a:endParaRPr>
                    </a:p>
                  </a:txBody>
                  <a:tcPr marL="137162" marR="137162" marT="68571" marB="685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solidFill>
                          <a:schemeClr val="tx1"/>
                        </a:solidFill>
                      </a:endParaRPr>
                    </a:p>
                  </a:txBody>
                  <a:tcPr marL="137162" marR="137162" marT="68571" marB="685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664320"/>
                  </a:ext>
                </a:extLst>
              </a:tr>
              <a:tr h="112631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700" dirty="0">
                          <a:solidFill>
                            <a:schemeClr val="tx1"/>
                          </a:solidFill>
                        </a:rPr>
                        <a:t>학력 </a:t>
                      </a:r>
                      <a:r>
                        <a:rPr lang="en-US" altLang="ko-KR" sz="270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altLang="ko-KR" sz="27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2700" baseline="0" dirty="0">
                          <a:solidFill>
                            <a:schemeClr val="tx1"/>
                          </a:solidFill>
                        </a:rPr>
                        <a:t>인천대          전자계산학과 </a:t>
                      </a:r>
                      <a:endParaRPr lang="en-US" altLang="ko-KR" sz="2700" baseline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2700" baseline="0" dirty="0">
                          <a:solidFill>
                            <a:schemeClr val="tx1"/>
                          </a:solidFill>
                        </a:rPr>
                        <a:t>            </a:t>
                      </a:r>
                      <a:r>
                        <a:rPr lang="ko-KR" altLang="en-US" sz="2700" baseline="0" dirty="0">
                          <a:solidFill>
                            <a:schemeClr val="tx1"/>
                          </a:solidFill>
                        </a:rPr>
                        <a:t>홍익대학원 전산교육학과 </a:t>
                      </a:r>
                      <a:endParaRPr lang="ko-KR" altLang="en-US" sz="2700" dirty="0">
                        <a:solidFill>
                          <a:schemeClr val="tx1"/>
                        </a:solidFill>
                      </a:endParaRPr>
                    </a:p>
                  </a:txBody>
                  <a:tcPr marL="137162" marR="137162" marT="68571" marB="685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956802"/>
                  </a:ext>
                </a:extLst>
              </a:tr>
              <a:tr h="1843904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2700" dirty="0"/>
                        <a:t>자격 </a:t>
                      </a:r>
                      <a:r>
                        <a:rPr lang="en-US" altLang="ko-KR" sz="2700" dirty="0"/>
                        <a:t>: </a:t>
                      </a:r>
                      <a:r>
                        <a:rPr lang="ko-KR" altLang="en-US" sz="2700" dirty="0"/>
                        <a:t>미국 </a:t>
                      </a:r>
                      <a:r>
                        <a:rPr lang="en-US" altLang="ko-KR" sz="2700" dirty="0"/>
                        <a:t>PMP(PROJECT</a:t>
                      </a:r>
                      <a:r>
                        <a:rPr lang="en-US" altLang="ko-KR" sz="2700" baseline="0" dirty="0"/>
                        <a:t> MANAGEMENT PROFESSIONAL)</a:t>
                      </a:r>
                      <a:endParaRPr lang="en-US" altLang="ko-KR" sz="2700" dirty="0"/>
                    </a:p>
                    <a:p>
                      <a:pPr latinLnBrk="1"/>
                      <a:r>
                        <a:rPr lang="en-US" altLang="ko-KR" sz="2700" dirty="0"/>
                        <a:t>           </a:t>
                      </a:r>
                      <a:r>
                        <a:rPr lang="ko-KR" altLang="en-US" sz="2700" dirty="0"/>
                        <a:t>정보처리기사</a:t>
                      </a:r>
                      <a:r>
                        <a:rPr lang="en-US" altLang="ko-KR" sz="2700" dirty="0"/>
                        <a:t>, </a:t>
                      </a:r>
                      <a:r>
                        <a:rPr lang="ko-KR" altLang="en-US" sz="2700" dirty="0" err="1"/>
                        <a:t>데이터준전문가</a:t>
                      </a:r>
                      <a:r>
                        <a:rPr lang="en-US" altLang="ko-KR" sz="2700" dirty="0"/>
                        <a:t>(</a:t>
                      </a:r>
                      <a:r>
                        <a:rPr lang="en-US" altLang="ko-KR" sz="2700" dirty="0" err="1"/>
                        <a:t>ADsP</a:t>
                      </a:r>
                      <a:r>
                        <a:rPr lang="en-US" altLang="ko-KR" sz="2700" dirty="0"/>
                        <a:t>), AI</a:t>
                      </a:r>
                      <a:r>
                        <a:rPr lang="ko-KR" altLang="en-US" sz="2700" dirty="0"/>
                        <a:t>챔피언</a:t>
                      </a:r>
                      <a:r>
                        <a:rPr lang="en-US" altLang="ko-KR" sz="2700" dirty="0"/>
                        <a:t>(</a:t>
                      </a:r>
                      <a:r>
                        <a:rPr lang="ko-KR" altLang="en-US" sz="2700" dirty="0"/>
                        <a:t>블루</a:t>
                      </a:r>
                      <a:r>
                        <a:rPr lang="en-US" altLang="ko-KR" sz="2700" dirty="0"/>
                        <a:t>, </a:t>
                      </a:r>
                      <a:r>
                        <a:rPr lang="ko-KR" altLang="en-US" sz="2700" dirty="0" err="1"/>
                        <a:t>행안부</a:t>
                      </a:r>
                      <a:r>
                        <a:rPr lang="en-US" altLang="ko-KR" sz="2700" dirty="0"/>
                        <a:t>)</a:t>
                      </a:r>
                    </a:p>
                    <a:p>
                      <a:pPr latinLnBrk="1"/>
                      <a:r>
                        <a:rPr lang="en-US" altLang="ko-KR" sz="2700" baseline="0" dirty="0"/>
                        <a:t>           </a:t>
                      </a:r>
                      <a:r>
                        <a:rPr lang="ko-KR" altLang="en-US" sz="2700" baseline="0" dirty="0"/>
                        <a:t>가스기능장</a:t>
                      </a:r>
                      <a:r>
                        <a:rPr lang="en-US" altLang="ko-KR" sz="2700" baseline="0" dirty="0"/>
                        <a:t>, </a:t>
                      </a:r>
                      <a:r>
                        <a:rPr lang="ko-KR" altLang="en-US" sz="2700" baseline="0" dirty="0"/>
                        <a:t>전기산업기사</a:t>
                      </a:r>
                      <a:r>
                        <a:rPr lang="en-US" altLang="ko-KR" sz="2700" baseline="0" dirty="0"/>
                        <a:t>, </a:t>
                      </a:r>
                      <a:r>
                        <a:rPr lang="ko-KR" altLang="en-US" sz="2700" baseline="0" dirty="0"/>
                        <a:t>산업안전기사</a:t>
                      </a:r>
                      <a:r>
                        <a:rPr lang="en-US" altLang="ko-KR" sz="2700" baseline="0" dirty="0"/>
                        <a:t>, 3D</a:t>
                      </a:r>
                      <a:r>
                        <a:rPr lang="ko-KR" altLang="en-US" sz="2700" baseline="0" dirty="0"/>
                        <a:t>프린터운용기능사</a:t>
                      </a:r>
                      <a:endParaRPr lang="en-US" altLang="ko-KR" sz="2700" baseline="0" dirty="0"/>
                    </a:p>
                    <a:p>
                      <a:pPr latinLnBrk="1"/>
                      <a:r>
                        <a:rPr lang="en-US" altLang="ko-KR" sz="2700" baseline="0" dirty="0"/>
                        <a:t>           </a:t>
                      </a:r>
                      <a:r>
                        <a:rPr lang="ko-KR" altLang="en-US" sz="2700" baseline="0" dirty="0"/>
                        <a:t>정교사 </a:t>
                      </a:r>
                      <a:r>
                        <a:rPr lang="en-US" altLang="ko-KR" sz="2700" baseline="0" dirty="0"/>
                        <a:t>2</a:t>
                      </a:r>
                      <a:r>
                        <a:rPr lang="ko-KR" altLang="en-US" sz="2700" baseline="0" dirty="0"/>
                        <a:t>급</a:t>
                      </a:r>
                      <a:r>
                        <a:rPr lang="en-US" altLang="ko-KR" sz="2700" baseline="0" dirty="0"/>
                        <a:t>, NCS </a:t>
                      </a:r>
                      <a:r>
                        <a:rPr lang="ko-KR" altLang="en-US" sz="2700" baseline="0" dirty="0"/>
                        <a:t>강사</a:t>
                      </a:r>
                      <a:r>
                        <a:rPr lang="en-US" altLang="ko-KR" sz="2700" baseline="0" dirty="0"/>
                        <a:t>(</a:t>
                      </a:r>
                      <a:r>
                        <a:rPr lang="ko-KR" altLang="en-US" sz="2700" baseline="0" dirty="0"/>
                        <a:t>안전관리</a:t>
                      </a:r>
                      <a:r>
                        <a:rPr lang="en-US" altLang="ko-KR" sz="2700" baseline="0" dirty="0"/>
                        <a:t>, </a:t>
                      </a:r>
                      <a:r>
                        <a:rPr lang="ko-KR" altLang="en-US" sz="2700" baseline="0" dirty="0"/>
                        <a:t>전기</a:t>
                      </a:r>
                      <a:r>
                        <a:rPr lang="en-US" altLang="ko-KR" sz="2700" baseline="0" dirty="0"/>
                        <a:t>, </a:t>
                      </a:r>
                      <a:r>
                        <a:rPr lang="ko-KR" altLang="en-US" sz="2700" baseline="0" dirty="0"/>
                        <a:t>프로그램</a:t>
                      </a:r>
                      <a:r>
                        <a:rPr lang="en-US" altLang="ko-KR" sz="2700" baseline="0" dirty="0"/>
                        <a:t>), </a:t>
                      </a:r>
                      <a:r>
                        <a:rPr lang="ko-KR" altLang="en-US" sz="2700" baseline="0" dirty="0" err="1"/>
                        <a:t>한국인공지능소프트웨어협회</a:t>
                      </a:r>
                      <a:r>
                        <a:rPr lang="ko-KR" altLang="en-US" sz="2700" baseline="0" dirty="0"/>
                        <a:t> 경력</a:t>
                      </a:r>
                      <a:r>
                        <a:rPr lang="en-US" altLang="ko-KR" sz="2700" baseline="0" dirty="0"/>
                        <a:t>(15</a:t>
                      </a:r>
                      <a:r>
                        <a:rPr lang="ko-KR" altLang="en-US" sz="2700" baseline="0" dirty="0" err="1"/>
                        <a:t>년이상</a:t>
                      </a:r>
                      <a:r>
                        <a:rPr lang="en-US" altLang="ko-KR" sz="2700" baseline="0" dirty="0"/>
                        <a:t>)</a:t>
                      </a:r>
                      <a:endParaRPr lang="ko-KR" altLang="en-US" sz="2700" dirty="0"/>
                    </a:p>
                  </a:txBody>
                  <a:tcPr marL="137162" marR="137162" marT="68571" marB="685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741809"/>
                  </a:ext>
                </a:extLst>
              </a:tr>
              <a:tr h="2377422">
                <a:tc gridSpan="3">
                  <a:txBody>
                    <a:bodyPr/>
                    <a:lstStyle/>
                    <a:p>
                      <a:pPr latinLnBrk="1"/>
                      <a:endParaRPr lang="en-US" altLang="ko-KR" sz="1200" dirty="0"/>
                    </a:p>
                    <a:p>
                      <a:pPr latinLnBrk="1"/>
                      <a:r>
                        <a:rPr lang="ko-KR" altLang="en-US" sz="2700" dirty="0"/>
                        <a:t>경력 </a:t>
                      </a:r>
                      <a:r>
                        <a:rPr lang="en-US" altLang="ko-KR" sz="2700" dirty="0"/>
                        <a:t>: (</a:t>
                      </a:r>
                      <a:r>
                        <a:rPr lang="ko-KR" altLang="en-US" sz="2700" dirty="0"/>
                        <a:t>전</a:t>
                      </a:r>
                      <a:r>
                        <a:rPr lang="en-US" altLang="ko-KR" sz="2700" dirty="0"/>
                        <a:t>) </a:t>
                      </a:r>
                      <a:r>
                        <a:rPr lang="ko-KR" altLang="en-US" sz="2700" dirty="0"/>
                        <a:t>한국가스안전공사 기획실</a:t>
                      </a:r>
                      <a:r>
                        <a:rPr lang="en-US" altLang="ko-KR" sz="2700" dirty="0"/>
                        <a:t>, </a:t>
                      </a:r>
                      <a:r>
                        <a:rPr lang="ko-KR" altLang="en-US" sz="2700" dirty="0" err="1"/>
                        <a:t>경영지원처</a:t>
                      </a:r>
                      <a:r>
                        <a:rPr lang="en-US" altLang="ko-KR" sz="2700" dirty="0"/>
                        <a:t>, </a:t>
                      </a:r>
                      <a:r>
                        <a:rPr lang="ko-KR" altLang="en-US" sz="2700" dirty="0"/>
                        <a:t>전산실 등</a:t>
                      </a:r>
                      <a:r>
                        <a:rPr lang="ko-KR" altLang="en-US" sz="2700" baseline="0" dirty="0"/>
                        <a:t> </a:t>
                      </a:r>
                      <a:r>
                        <a:rPr lang="en-US" altLang="ko-KR" sz="2700" baseline="0" dirty="0"/>
                        <a:t>27</a:t>
                      </a:r>
                      <a:r>
                        <a:rPr lang="ko-KR" altLang="en-US" sz="2700" baseline="0" dirty="0"/>
                        <a:t>년 근무</a:t>
                      </a:r>
                      <a:r>
                        <a:rPr lang="en-US" altLang="ko-KR" sz="2700" baseline="0" dirty="0"/>
                        <a:t>(</a:t>
                      </a:r>
                      <a:r>
                        <a:rPr lang="ko-KR" altLang="en-US" sz="2700" baseline="0" dirty="0"/>
                        <a:t>부장</a:t>
                      </a:r>
                      <a:r>
                        <a:rPr lang="en-US" altLang="ko-KR" sz="2700" baseline="0" dirty="0"/>
                        <a:t>)</a:t>
                      </a:r>
                    </a:p>
                    <a:p>
                      <a:pPr latinLnBrk="1"/>
                      <a:r>
                        <a:rPr lang="en-US" altLang="ko-KR" sz="2700" baseline="0" dirty="0"/>
                        <a:t>           (</a:t>
                      </a:r>
                      <a:r>
                        <a:rPr lang="ko-KR" altLang="en-US" sz="2700" baseline="0" dirty="0"/>
                        <a:t>전</a:t>
                      </a:r>
                      <a:r>
                        <a:rPr lang="en-US" altLang="ko-KR" sz="2700" baseline="0" dirty="0"/>
                        <a:t>) </a:t>
                      </a:r>
                      <a:r>
                        <a:rPr lang="ko-KR" altLang="en-US" sz="2700" baseline="0" dirty="0"/>
                        <a:t>서울특별시</a:t>
                      </a:r>
                      <a:r>
                        <a:rPr lang="en-US" altLang="ko-KR" sz="2700" baseline="0" dirty="0"/>
                        <a:t>, </a:t>
                      </a:r>
                      <a:r>
                        <a:rPr lang="ko-KR" altLang="en-US" sz="2700" baseline="0" dirty="0"/>
                        <a:t>충청북도 지자체 </a:t>
                      </a:r>
                      <a:r>
                        <a:rPr lang="ko-KR" altLang="en-US" sz="2700" baseline="0" dirty="0" err="1"/>
                        <a:t>안전위원</a:t>
                      </a:r>
                      <a:endParaRPr lang="en-US" altLang="ko-KR" sz="2700" baseline="0" dirty="0"/>
                    </a:p>
                    <a:p>
                      <a:pPr latinLnBrk="1"/>
                      <a:r>
                        <a:rPr lang="en-US" altLang="ko-KR" sz="2700" baseline="0" dirty="0"/>
                        <a:t>           (</a:t>
                      </a:r>
                      <a:r>
                        <a:rPr lang="ko-KR" altLang="en-US" sz="2700" baseline="0" dirty="0"/>
                        <a:t>현</a:t>
                      </a:r>
                      <a:r>
                        <a:rPr lang="en-US" altLang="ko-KR" sz="2700" baseline="0" dirty="0"/>
                        <a:t>) </a:t>
                      </a:r>
                      <a:r>
                        <a:rPr lang="ko-KR" altLang="en-US" sz="2700" baseline="0" dirty="0"/>
                        <a:t>한국 </a:t>
                      </a:r>
                      <a:r>
                        <a:rPr lang="en-US" altLang="ko-KR" sz="2700" baseline="0" dirty="0"/>
                        <a:t>PMI</a:t>
                      </a:r>
                      <a:r>
                        <a:rPr lang="ko-KR" altLang="en-US" sz="2700" baseline="0" dirty="0"/>
                        <a:t>정회원</a:t>
                      </a:r>
                      <a:endParaRPr lang="en-US" altLang="ko-KR" sz="2700" baseline="0" dirty="0"/>
                    </a:p>
                    <a:p>
                      <a:pPr latinLnBrk="1"/>
                      <a:r>
                        <a:rPr lang="en-US" altLang="ko-KR" sz="2700" baseline="0" dirty="0"/>
                        <a:t>           (</a:t>
                      </a:r>
                      <a:r>
                        <a:rPr lang="ko-KR" altLang="en-US" sz="2700" baseline="0" dirty="0"/>
                        <a:t>현</a:t>
                      </a:r>
                      <a:r>
                        <a:rPr lang="en-US" altLang="ko-KR" sz="2700" baseline="0" dirty="0"/>
                        <a:t>) </a:t>
                      </a:r>
                      <a:r>
                        <a:rPr lang="ko-KR" altLang="en-US" sz="2700" baseline="0" dirty="0" err="1"/>
                        <a:t>한국폴리텍대학</a:t>
                      </a:r>
                      <a:r>
                        <a:rPr lang="ko-KR" altLang="en-US" sz="2700" baseline="0" dirty="0"/>
                        <a:t> 충남캠퍼스 산학협력중점교수</a:t>
                      </a:r>
                      <a:endParaRPr lang="en-US" altLang="ko-KR" sz="2700" baseline="0" dirty="0"/>
                    </a:p>
                    <a:p>
                      <a:pPr latinLnBrk="1"/>
                      <a:r>
                        <a:rPr lang="en-US" altLang="ko-KR" sz="2700" baseline="0" dirty="0"/>
                        <a:t>           (</a:t>
                      </a:r>
                      <a:r>
                        <a:rPr lang="ko-KR" altLang="en-US" sz="2700" baseline="0" dirty="0"/>
                        <a:t>현</a:t>
                      </a:r>
                      <a:r>
                        <a:rPr lang="en-US" altLang="ko-KR" sz="2700" baseline="0" dirty="0"/>
                        <a:t>) </a:t>
                      </a:r>
                      <a:r>
                        <a:rPr lang="ko-KR" altLang="en-US" sz="2700" baseline="0" dirty="0"/>
                        <a:t>인적자원위원회 </a:t>
                      </a:r>
                      <a:r>
                        <a:rPr lang="en-US" altLang="ko-KR" sz="2700" baseline="0" dirty="0"/>
                        <a:t>NCS </a:t>
                      </a:r>
                      <a:r>
                        <a:rPr lang="ko-KR" altLang="en-US" sz="2700" baseline="0" dirty="0"/>
                        <a:t>신에너지분과위원</a:t>
                      </a:r>
                      <a:endParaRPr lang="ko-KR" altLang="en-US" sz="2700" dirty="0"/>
                    </a:p>
                  </a:txBody>
                  <a:tcPr marL="137162" marR="137162" marT="68571" marB="685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278011"/>
                  </a:ext>
                </a:extLst>
              </a:tr>
              <a:tr h="1554462">
                <a:tc gridSpan="3">
                  <a:txBody>
                    <a:bodyPr/>
                    <a:lstStyle/>
                    <a:p>
                      <a:pPr latinLnBrk="1"/>
                      <a:endParaRPr lang="en-US" altLang="ko-KR" sz="1200" dirty="0"/>
                    </a:p>
                    <a:p>
                      <a:pPr latinLnBrk="1"/>
                      <a:r>
                        <a:rPr lang="ko-KR" altLang="en-US" sz="2700" dirty="0"/>
                        <a:t>수상 </a:t>
                      </a:r>
                      <a:r>
                        <a:rPr lang="en-US" altLang="ko-KR" sz="2700" dirty="0"/>
                        <a:t>: </a:t>
                      </a:r>
                      <a:r>
                        <a:rPr lang="ko-KR" altLang="en-US" sz="2700" dirty="0"/>
                        <a:t>지식경제부 장관상 수상</a:t>
                      </a:r>
                      <a:endParaRPr lang="en-US" altLang="ko-KR" sz="2700" dirty="0"/>
                    </a:p>
                    <a:p>
                      <a:pPr latinLnBrk="1"/>
                      <a:r>
                        <a:rPr lang="en-US" altLang="ko-KR" sz="2700" dirty="0"/>
                        <a:t>           </a:t>
                      </a:r>
                      <a:r>
                        <a:rPr lang="ko-KR" altLang="en-US" sz="2700" dirty="0"/>
                        <a:t>농림수산식품부 장관상 수상</a:t>
                      </a:r>
                      <a:endParaRPr lang="en-US" altLang="ko-KR" sz="2700" dirty="0"/>
                    </a:p>
                    <a:p>
                      <a:pPr latinLnBrk="1"/>
                      <a:r>
                        <a:rPr lang="en-US" altLang="ko-KR" sz="2700" dirty="0"/>
                        <a:t>           </a:t>
                      </a:r>
                      <a:r>
                        <a:rPr lang="ko-KR" altLang="en-US" sz="2700" dirty="0"/>
                        <a:t>한국가스안전공사 사장상</a:t>
                      </a:r>
                      <a:r>
                        <a:rPr lang="en-US" altLang="ko-KR" sz="2700" dirty="0"/>
                        <a:t>(5</a:t>
                      </a:r>
                      <a:r>
                        <a:rPr lang="ko-KR" altLang="en-US" sz="2700" dirty="0"/>
                        <a:t>회</a:t>
                      </a:r>
                      <a:r>
                        <a:rPr lang="en-US" altLang="ko-KR" sz="2700" dirty="0"/>
                        <a:t>, </a:t>
                      </a:r>
                      <a:r>
                        <a:rPr lang="ko-KR" altLang="en-US" sz="2700" dirty="0"/>
                        <a:t>홈페이지 구축</a:t>
                      </a:r>
                      <a:r>
                        <a:rPr lang="en-US" altLang="ko-KR" sz="2700" dirty="0"/>
                        <a:t>, </a:t>
                      </a:r>
                      <a:r>
                        <a:rPr lang="ko-KR" altLang="en-US" sz="2700" dirty="0"/>
                        <a:t>교육</a:t>
                      </a:r>
                      <a:r>
                        <a:rPr lang="en-US" altLang="ko-KR" sz="2700" dirty="0"/>
                        <a:t>LMS</a:t>
                      </a:r>
                      <a:r>
                        <a:rPr lang="ko-KR" altLang="en-US" sz="2700" dirty="0"/>
                        <a:t>시스템구축 등</a:t>
                      </a:r>
                      <a:r>
                        <a:rPr lang="en-US" altLang="ko-KR" sz="2700" dirty="0"/>
                        <a:t>)</a:t>
                      </a:r>
                      <a:endParaRPr lang="ko-KR" altLang="en-US" sz="2700" dirty="0"/>
                    </a:p>
                  </a:txBody>
                  <a:tcPr marL="137162" marR="137162" marT="68571" marB="6857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94817"/>
                  </a:ext>
                </a:extLst>
              </a:tr>
            </a:tbl>
          </a:graphicData>
        </a:graphic>
      </p:graphicFrame>
      <p:pic>
        <p:nvPicPr>
          <p:cNvPr id="26" name="그림 4">
            <a:extLst>
              <a:ext uri="{FF2B5EF4-FFF2-40B4-BE49-F238E27FC236}">
                <a16:creationId xmlns:a16="http://schemas.microsoft.com/office/drawing/2014/main" id="{F95F8B2B-41A3-46C2-8510-06368A1CB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454944"/>
            <a:ext cx="1912145" cy="2469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그림 5">
            <a:extLst>
              <a:ext uri="{FF2B5EF4-FFF2-40B4-BE49-F238E27FC236}">
                <a16:creationId xmlns:a16="http://schemas.microsoft.com/office/drawing/2014/main" id="{36722FA6-7600-4B34-9D01-05D9500F9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6168" y="1638300"/>
            <a:ext cx="1774032" cy="17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4716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45273" y="952453"/>
            <a:ext cx="3914027" cy="19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24"/>
              </a:lnSpc>
            </a:pPr>
            <a:r>
              <a:rPr lang="en-US" sz="1498" spc="-73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노희민(정답풀이) / 한국폴리텍대학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91854" y="816283"/>
            <a:ext cx="6921360" cy="30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83"/>
              </a:lnSpc>
            </a:pPr>
            <a:r>
              <a:rPr lang="ko-KR" altLang="en-US" sz="1845" spc="-90" dirty="0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수업에 앞서서</a:t>
            </a:r>
            <a:endParaRPr lang="en-US" sz="1845" spc="-90" dirty="0">
              <a:solidFill>
                <a:srgbClr val="000000"/>
              </a:solidFill>
              <a:latin typeface="210 햄스터 Bold"/>
              <a:ea typeface="210 햄스터 Bold"/>
              <a:cs typeface="210 햄스터 Bold"/>
              <a:sym typeface="210 햄스터 Bold"/>
            </a:endParaRPr>
          </a:p>
        </p:txBody>
      </p:sp>
      <p:sp>
        <p:nvSpPr>
          <p:cNvPr id="30" name="TextBox 1">
            <a:extLst>
              <a:ext uri="{FF2B5EF4-FFF2-40B4-BE49-F238E27FC236}">
                <a16:creationId xmlns:a16="http://schemas.microsoft.com/office/drawing/2014/main" id="{CEDD7FE2-2346-43FB-8B4F-18E26AAE5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5407" y="2221708"/>
            <a:ext cx="802495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en-US" altLang="ko-KR" sz="2700"/>
              <a:t>※ </a:t>
            </a:r>
            <a:r>
              <a:rPr lang="ko-KR" altLang="en-US" sz="2700"/>
              <a:t>한번이라도 사용했던 것에 대하여 손 들어주세요</a:t>
            </a:r>
            <a:r>
              <a:rPr lang="en-US" altLang="ko-KR" sz="2700"/>
              <a:t>. </a:t>
            </a:r>
            <a:endParaRPr lang="ko-KR" altLang="en-US" sz="2700"/>
          </a:p>
        </p:txBody>
      </p:sp>
      <p:sp>
        <p:nvSpPr>
          <p:cNvPr id="31" name="TextBox 4">
            <a:extLst>
              <a:ext uri="{FF2B5EF4-FFF2-40B4-BE49-F238E27FC236}">
                <a16:creationId xmlns:a16="http://schemas.microsoft.com/office/drawing/2014/main" id="{4C87A2E6-D181-4E49-8EB9-F4B081F40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7808" y="3340895"/>
            <a:ext cx="2515817" cy="5159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2400"/>
              <a:t>ChatGPT</a:t>
            </a:r>
          </a:p>
          <a:p>
            <a:pPr eaLnBrk="1" latinLnBrk="1" hangingPunct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2400"/>
              <a:t>OO.ai</a:t>
            </a:r>
          </a:p>
          <a:p>
            <a:pPr eaLnBrk="1" latinLnBrk="1" hangingPunct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2400"/>
              <a:t>1min.ai</a:t>
            </a:r>
          </a:p>
          <a:p>
            <a:pPr eaLnBrk="1" latinLnBrk="1" hangingPunct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2400"/>
              <a:t>Perplexity(</a:t>
            </a:r>
            <a:r>
              <a:rPr lang="ko-KR" altLang="en-US" sz="2400"/>
              <a:t>출처</a:t>
            </a:r>
            <a:r>
              <a:rPr lang="en-US" altLang="ko-KR" sz="2400"/>
              <a:t>)</a:t>
            </a:r>
          </a:p>
          <a:p>
            <a:pPr eaLnBrk="1" latinLnBrk="1" hangingPunct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2400"/>
              <a:t>Gemini(</a:t>
            </a:r>
            <a:r>
              <a:rPr lang="ko-KR" altLang="en-US" sz="2400"/>
              <a:t>구글</a:t>
            </a:r>
            <a:r>
              <a:rPr lang="en-US" altLang="ko-KR" sz="2400"/>
              <a:t>)</a:t>
            </a:r>
          </a:p>
          <a:p>
            <a:pPr eaLnBrk="1" latinLnBrk="1" hangingPunct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2400"/>
              <a:t>Bing-chat</a:t>
            </a:r>
          </a:p>
          <a:p>
            <a:pPr eaLnBrk="1" latinLnBrk="1" hangingPunct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2400"/>
              <a:t>Copilot</a:t>
            </a:r>
          </a:p>
        </p:txBody>
      </p:sp>
      <p:sp>
        <p:nvSpPr>
          <p:cNvPr id="32" name="TextBox 5">
            <a:extLst>
              <a:ext uri="{FF2B5EF4-FFF2-40B4-BE49-F238E27FC236}">
                <a16:creationId xmlns:a16="http://schemas.microsoft.com/office/drawing/2014/main" id="{EB8A7F81-4025-450C-AF76-5F316B908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083" y="3340895"/>
            <a:ext cx="1407373" cy="294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2400"/>
              <a:t>Discord</a:t>
            </a:r>
          </a:p>
          <a:p>
            <a:pPr eaLnBrk="1" latinLnBrk="1" hangingPunct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2400"/>
              <a:t>Notion</a:t>
            </a:r>
          </a:p>
          <a:p>
            <a:pPr eaLnBrk="1" latinLnBrk="1" hangingPunct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2400"/>
              <a:t>padlet</a:t>
            </a:r>
          </a:p>
          <a:p>
            <a:pPr eaLnBrk="1" latinLnBrk="1" hangingPunct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2400"/>
              <a:t>gitHub</a:t>
            </a:r>
          </a:p>
        </p:txBody>
      </p:sp>
      <p:sp>
        <p:nvSpPr>
          <p:cNvPr id="33" name="TextBox 6">
            <a:extLst>
              <a:ext uri="{FF2B5EF4-FFF2-40B4-BE49-F238E27FC236}">
                <a16:creationId xmlns:a16="http://schemas.microsoft.com/office/drawing/2014/main" id="{4E117A73-B660-48C0-9FDD-2A5891715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06238" y="3340895"/>
            <a:ext cx="3502882" cy="5159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2400"/>
              <a:t>AI Video(</a:t>
            </a:r>
            <a:r>
              <a:rPr lang="ko-KR" altLang="en-US" sz="2400"/>
              <a:t>영상</a:t>
            </a:r>
            <a:r>
              <a:rPr lang="en-US" altLang="ko-KR" sz="2400"/>
              <a:t>)</a:t>
            </a:r>
          </a:p>
          <a:p>
            <a:pPr eaLnBrk="1" latinLnBrk="1" hangingPunct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2400"/>
              <a:t>SUNO(</a:t>
            </a:r>
            <a:r>
              <a:rPr lang="ko-KR" altLang="en-US" sz="2400"/>
              <a:t>음원</a:t>
            </a:r>
            <a:r>
              <a:rPr lang="en-US" altLang="ko-KR" sz="2400"/>
              <a:t>)</a:t>
            </a:r>
          </a:p>
          <a:p>
            <a:pPr eaLnBrk="1" latinLnBrk="1" hangingPunct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2400"/>
              <a:t>Genspark(</a:t>
            </a:r>
            <a:r>
              <a:rPr lang="ko-KR" altLang="en-US" sz="2400"/>
              <a:t>미디어</a:t>
            </a:r>
            <a:r>
              <a:rPr lang="en-US" altLang="ko-KR" sz="2400"/>
              <a:t>/</a:t>
            </a:r>
            <a:r>
              <a:rPr lang="ko-KR" altLang="en-US" sz="2400"/>
              <a:t>출처</a:t>
            </a:r>
            <a:r>
              <a:rPr lang="en-US" altLang="ko-KR" sz="2400"/>
              <a:t>)</a:t>
            </a:r>
          </a:p>
          <a:p>
            <a:pPr eaLnBrk="1" latinLnBrk="1" hangingPunct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2400"/>
              <a:t>GAMMA(PPT)</a:t>
            </a:r>
          </a:p>
          <a:p>
            <a:pPr eaLnBrk="1" latinLnBrk="1" hangingPunct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2400"/>
              <a:t>DALL.E</a:t>
            </a:r>
          </a:p>
          <a:p>
            <a:pPr eaLnBrk="1" latinLnBrk="1" hangingPunct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2400"/>
              <a:t>Midjourney</a:t>
            </a:r>
          </a:p>
          <a:p>
            <a:pPr eaLnBrk="1" latinLnBrk="1" hangingPunct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2400"/>
              <a:t>Playgroundai</a:t>
            </a:r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14211C69-D7F4-4AAD-84E6-FD0533EBF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083" y="6386513"/>
            <a:ext cx="3498843" cy="220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2400" dirty="0" err="1"/>
              <a:t>askUp</a:t>
            </a:r>
            <a:endParaRPr lang="en-US" altLang="ko-KR" sz="2400" dirty="0"/>
          </a:p>
          <a:p>
            <a:pPr eaLnBrk="1" latinLnBrk="1" hangingPunct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sz="2400" dirty="0"/>
              <a:t>Claude</a:t>
            </a:r>
          </a:p>
          <a:p>
            <a:pPr eaLnBrk="1" latinLnBrk="1" hangingPunct="1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sz="2400" dirty="0"/>
              <a:t>구글</a:t>
            </a:r>
            <a:r>
              <a:rPr lang="en-US" altLang="ko-KR" sz="2400" dirty="0"/>
              <a:t>(GPT FOR GOOGLE)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EE52D0-C67F-4AB8-9B8E-3D929375A9BD}"/>
              </a:ext>
            </a:extLst>
          </p:cNvPr>
          <p:cNvSpPr txBox="1"/>
          <p:nvPr/>
        </p:nvSpPr>
        <p:spPr>
          <a:xfrm>
            <a:off x="1752600" y="9182100"/>
            <a:ext cx="906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hlinkClick r:id="rId2"/>
              </a:rPr>
              <a:t>https://github.com/heeminroh4-ui/LLM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938201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45273" y="952453"/>
            <a:ext cx="3914027" cy="19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24"/>
              </a:lnSpc>
            </a:pPr>
            <a:r>
              <a:rPr lang="en-US" sz="1498" spc="-73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노희민(정답풀이) / 한국폴리텍대학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95094" y="3429001"/>
            <a:ext cx="10097813" cy="116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AI, 머신러닝, 딥러닝의 개념과 관계를 명확히 구분하고,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학습 데이터와 모델의 관계를 이해하며, Python/PyTorch/ChatGPT 실습 흐름의 큰 그림을 파악합니다.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24549" y="2163296"/>
            <a:ext cx="7038901" cy="653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8"/>
              </a:lnSpc>
            </a:pPr>
            <a:r>
              <a:rPr lang="en-US" sz="4515" spc="-216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이번 강의에서 무엇을 배울까요?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547443" y="5699937"/>
            <a:ext cx="3558363" cy="355836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3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31549" y="5699937"/>
            <a:ext cx="3558363" cy="35583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34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13762" y="5699937"/>
            <a:ext cx="3558363" cy="35583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34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82194" y="5699937"/>
            <a:ext cx="3558363" cy="3558363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34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121743" y="7058704"/>
            <a:ext cx="2409763" cy="840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43"/>
              </a:lnSpc>
            </a:pPr>
            <a:r>
              <a:rPr lang="en-US" sz="2844" spc="-136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AI·ML·DL</a:t>
            </a:r>
          </a:p>
          <a:p>
            <a:pPr marL="0" lvl="0" indent="0" algn="ctr">
              <a:lnSpc>
                <a:spcPts val="3243"/>
              </a:lnSpc>
            </a:pPr>
            <a:r>
              <a:rPr lang="en-US" sz="2844" spc="-136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용어 구분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05849" y="7058704"/>
            <a:ext cx="2409763" cy="840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43"/>
              </a:lnSpc>
            </a:pPr>
            <a:r>
              <a:rPr lang="en-US" sz="2844" spc="-136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데이터-모델</a:t>
            </a:r>
          </a:p>
          <a:p>
            <a:pPr marL="0" lvl="0" indent="0" algn="ctr">
              <a:lnSpc>
                <a:spcPts val="3243"/>
              </a:lnSpc>
            </a:pPr>
            <a:r>
              <a:rPr lang="en-US" sz="2844" spc="-136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관계 이해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88062" y="7058704"/>
            <a:ext cx="2409763" cy="840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43"/>
              </a:lnSpc>
            </a:pPr>
            <a:r>
              <a:rPr lang="en-US" sz="2844" spc="-136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PyTorch</a:t>
            </a:r>
          </a:p>
          <a:p>
            <a:pPr marL="0" lvl="0" indent="0" algn="ctr">
              <a:lnSpc>
                <a:spcPts val="3243"/>
              </a:lnSpc>
            </a:pPr>
            <a:r>
              <a:rPr lang="en-US" sz="2844" spc="-136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실습 흐름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88282" y="7058704"/>
            <a:ext cx="2946187" cy="840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43"/>
              </a:lnSpc>
            </a:pPr>
            <a:r>
              <a:rPr lang="en-US" sz="2844" spc="-136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ChatGPT</a:t>
            </a:r>
          </a:p>
          <a:p>
            <a:pPr marL="0" lvl="0" indent="0" algn="ctr">
              <a:lnSpc>
                <a:spcPts val="3243"/>
              </a:lnSpc>
            </a:pPr>
            <a:r>
              <a:rPr lang="en-US" sz="2844" spc="-136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활용 파악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91854" y="816283"/>
            <a:ext cx="6921360" cy="324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83"/>
              </a:lnSpc>
            </a:pPr>
            <a:r>
              <a:rPr lang="en-US" sz="1845" spc="-90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오늘의 목표</a:t>
            </a:r>
          </a:p>
        </p:txBody>
      </p:sp>
    </p:spTree>
    <p:extLst>
      <p:ext uri="{BB962C8B-B14F-4D97-AF65-F5344CB8AC3E}">
        <p14:creationId xmlns:p14="http://schemas.microsoft.com/office/powerpoint/2010/main" val="2014620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45273" y="952453"/>
            <a:ext cx="3914027" cy="16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139"/>
              </a:lnSpc>
            </a:pPr>
            <a:r>
              <a:rPr lang="en-US" sz="1200" spc="-58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(입문) — 3 / 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1854" y="806758"/>
            <a:ext cx="6921360" cy="350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41"/>
              </a:lnSpc>
            </a:pPr>
            <a:r>
              <a:rPr lang="en-US" sz="1958" spc="-95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AI가 바꾼 것과 사례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95094" y="3140513"/>
            <a:ext cx="10097813" cy="60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검색·추천·음성인식·번역·생성형 AI 등 다양한 분야에서 AI가 활용되고 있습니다.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문서 요약, 초안 작성, 코딩 보조 등 업무 자동화도 빠르게 확산되고 있습니다.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24549" y="2264975"/>
            <a:ext cx="7038901" cy="421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4"/>
              </a:lnSpc>
            </a:pPr>
            <a:r>
              <a:rPr lang="en-US" sz="2828" spc="-135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AI는 이미 우리 일상과 업무 깊숙이 들어와 있습니다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515858" y="4208606"/>
            <a:ext cx="5049694" cy="504969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62984" y="4208606"/>
            <a:ext cx="5049694" cy="504969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939960" y="5868374"/>
            <a:ext cx="4201491" cy="93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89"/>
              </a:lnSpc>
            </a:pPr>
            <a:r>
              <a:rPr lang="en-US" sz="2882" spc="-138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일상 속 AI</a:t>
            </a:r>
          </a:p>
          <a:p>
            <a:pPr marL="0" lvl="0" indent="0" algn="ctr">
              <a:lnSpc>
                <a:spcPts val="3689"/>
              </a:lnSpc>
            </a:pPr>
            <a:r>
              <a:rPr lang="en-US" sz="2882" spc="-138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활용 사례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87085" y="5868374"/>
            <a:ext cx="4201491" cy="93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89"/>
              </a:lnSpc>
            </a:pPr>
            <a:r>
              <a:rPr lang="en-US" sz="2882" spc="-138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업무 자동화</a:t>
            </a:r>
          </a:p>
          <a:p>
            <a:pPr marL="0" lvl="0" indent="0" algn="ctr">
              <a:lnSpc>
                <a:spcPts val="3689"/>
              </a:lnSpc>
            </a:pPr>
            <a:r>
              <a:rPr lang="en-US" sz="2882" spc="-138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&amp; 생산성 향상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78387" y="7558056"/>
            <a:ext cx="3524635" cy="298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36"/>
              </a:lnSpc>
            </a:pPr>
            <a:r>
              <a:rPr lang="en-US" sz="1740" spc="-137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검색·추천·음성·번역·생성형 AI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08959" y="7558056"/>
            <a:ext cx="3557743" cy="298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36"/>
              </a:lnSpc>
            </a:pPr>
            <a:r>
              <a:rPr lang="en-US" sz="1740" spc="-137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문서 요약·초안 작성·코딩 보조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095094" y="7373954"/>
            <a:ext cx="370792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10112021" y="7373954"/>
            <a:ext cx="370792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53493" y="4984560"/>
            <a:ext cx="5908829" cy="1144845"/>
            <a:chOff x="0" y="0"/>
            <a:chExt cx="1556235" cy="3015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53493" y="6365354"/>
            <a:ext cx="5908829" cy="1144845"/>
            <a:chOff x="0" y="0"/>
            <a:chExt cx="1556235" cy="3015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53493" y="7748324"/>
            <a:ext cx="5908829" cy="1144845"/>
            <a:chOff x="0" y="0"/>
            <a:chExt cx="1556235" cy="30152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684618" y="4983472"/>
            <a:ext cx="5908829" cy="1144845"/>
            <a:chOff x="0" y="0"/>
            <a:chExt cx="1556235" cy="3015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solidFill>
              <a:srgbClr val="00C4CC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684618" y="6364266"/>
            <a:ext cx="5908829" cy="1144845"/>
            <a:chOff x="0" y="0"/>
            <a:chExt cx="1556235" cy="3015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solidFill>
              <a:srgbClr val="00C4CC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684618" y="7747237"/>
            <a:ext cx="5908829" cy="1144845"/>
            <a:chOff x="0" y="0"/>
            <a:chExt cx="1556235" cy="3015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solidFill>
              <a:srgbClr val="00C4CC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7680420" y="6179343"/>
            <a:ext cx="3086100" cy="1519043"/>
            <a:chOff x="0" y="0"/>
            <a:chExt cx="812800" cy="40007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400077"/>
            </a:xfrm>
            <a:custGeom>
              <a:avLst/>
              <a:gdLst/>
              <a:ahLst/>
              <a:cxnLst/>
              <a:rect l="l" t="t" r="r" b="b"/>
              <a:pathLst>
                <a:path w="812800" h="400077">
                  <a:moveTo>
                    <a:pt x="406400" y="0"/>
                  </a:moveTo>
                  <a:lnTo>
                    <a:pt x="812800" y="400077"/>
                  </a:lnTo>
                  <a:lnTo>
                    <a:pt x="0" y="400077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27000" y="147650"/>
              <a:ext cx="558800" cy="223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345273" y="952453"/>
            <a:ext cx="3914027" cy="19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24"/>
              </a:lnSpc>
            </a:pPr>
            <a:r>
              <a:rPr lang="en-US" sz="1498" spc="-73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4 / 30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95094" y="3130988"/>
            <a:ext cx="10097813" cy="77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세 개념의 포함 관계를 이해하고,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규칙기반과 학습기반 접근 방식의 차이를 파악합니다.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24549" y="2103553"/>
            <a:ext cx="7038901" cy="76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23"/>
              </a:lnSpc>
            </a:pPr>
            <a:r>
              <a:rPr lang="en-US" sz="5196" spc="-249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AI ⊃ 머신러닝 ⊃ 딥러닝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13983" y="5231055"/>
            <a:ext cx="4187849" cy="64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78"/>
              </a:lnSpc>
            </a:pPr>
            <a:r>
              <a:rPr lang="en-US" sz="4197" b="1" spc="-88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AI (인공지능)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545108" y="5229968"/>
            <a:ext cx="4187849" cy="64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78"/>
              </a:lnSpc>
            </a:pPr>
            <a:r>
              <a:rPr lang="en-US" sz="4197" b="1" spc="-88">
                <a:solidFill>
                  <a:srgbClr val="FFFFFF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규칙기반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21268" y="6612938"/>
            <a:ext cx="3373279" cy="64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78"/>
              </a:lnSpc>
            </a:pPr>
            <a:r>
              <a:rPr lang="en-US" sz="4197" b="1" spc="-88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머신러닝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952393" y="6611850"/>
            <a:ext cx="3373279" cy="64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78"/>
              </a:lnSpc>
            </a:pPr>
            <a:r>
              <a:rPr lang="en-US" sz="4197" b="1" spc="-88">
                <a:solidFill>
                  <a:srgbClr val="FFFFFF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학습기반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604712" y="7994820"/>
            <a:ext cx="4406392" cy="64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78"/>
              </a:lnSpc>
            </a:pPr>
            <a:r>
              <a:rPr lang="en-US" sz="4197" b="1" spc="-88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딥러닝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435837" y="7993732"/>
            <a:ext cx="4406392" cy="64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78"/>
              </a:lnSpc>
            </a:pPr>
            <a:r>
              <a:rPr lang="en-US" sz="4197" b="1" spc="-88">
                <a:solidFill>
                  <a:srgbClr val="FFFFFF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표현학습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91854" y="787708"/>
            <a:ext cx="6921360" cy="622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spc="-176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AI·ML·DL 한 장 정리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3493" y="4984560"/>
            <a:ext cx="7130683" cy="1850143"/>
            <a:chOff x="0" y="0"/>
            <a:chExt cx="1878040" cy="4872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8040" cy="487281"/>
            </a:xfrm>
            <a:custGeom>
              <a:avLst/>
              <a:gdLst/>
              <a:ahLst/>
              <a:cxnLst/>
              <a:rect l="l" t="t" r="r" b="b"/>
              <a:pathLst>
                <a:path w="1878040" h="487281">
                  <a:moveTo>
                    <a:pt x="0" y="0"/>
                  </a:moveTo>
                  <a:lnTo>
                    <a:pt x="1878040" y="0"/>
                  </a:lnTo>
                  <a:lnTo>
                    <a:pt x="1878040" y="487281"/>
                  </a:lnTo>
                  <a:lnTo>
                    <a:pt x="0" y="487281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78040" cy="52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53493" y="7189857"/>
            <a:ext cx="7130683" cy="1850143"/>
            <a:chOff x="0" y="0"/>
            <a:chExt cx="1878040" cy="487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78040" cy="487281"/>
            </a:xfrm>
            <a:custGeom>
              <a:avLst/>
              <a:gdLst/>
              <a:ahLst/>
              <a:cxnLst/>
              <a:rect l="l" t="t" r="r" b="b"/>
              <a:pathLst>
                <a:path w="1878040" h="487281">
                  <a:moveTo>
                    <a:pt x="0" y="0"/>
                  </a:moveTo>
                  <a:lnTo>
                    <a:pt x="1878040" y="0"/>
                  </a:lnTo>
                  <a:lnTo>
                    <a:pt x="1878040" y="487281"/>
                  </a:lnTo>
                  <a:lnTo>
                    <a:pt x="0" y="487281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78040" cy="52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03824" y="4984560"/>
            <a:ext cx="7130683" cy="1850143"/>
            <a:chOff x="0" y="0"/>
            <a:chExt cx="1878040" cy="4872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78040" cy="487281"/>
            </a:xfrm>
            <a:custGeom>
              <a:avLst/>
              <a:gdLst/>
              <a:ahLst/>
              <a:cxnLst/>
              <a:rect l="l" t="t" r="r" b="b"/>
              <a:pathLst>
                <a:path w="1878040" h="487281">
                  <a:moveTo>
                    <a:pt x="0" y="0"/>
                  </a:moveTo>
                  <a:lnTo>
                    <a:pt x="1878040" y="0"/>
                  </a:lnTo>
                  <a:lnTo>
                    <a:pt x="1878040" y="487281"/>
                  </a:lnTo>
                  <a:lnTo>
                    <a:pt x="0" y="487281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78040" cy="52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03824" y="7189857"/>
            <a:ext cx="7130683" cy="1850143"/>
            <a:chOff x="0" y="0"/>
            <a:chExt cx="1878040" cy="4872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78040" cy="487281"/>
            </a:xfrm>
            <a:custGeom>
              <a:avLst/>
              <a:gdLst/>
              <a:ahLst/>
              <a:cxnLst/>
              <a:rect l="l" t="t" r="r" b="b"/>
              <a:pathLst>
                <a:path w="1878040" h="487281">
                  <a:moveTo>
                    <a:pt x="0" y="0"/>
                  </a:moveTo>
                  <a:lnTo>
                    <a:pt x="1878040" y="0"/>
                  </a:lnTo>
                  <a:lnTo>
                    <a:pt x="1878040" y="487281"/>
                  </a:lnTo>
                  <a:lnTo>
                    <a:pt x="0" y="487281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78040" cy="52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207361" y="5583704"/>
            <a:ext cx="3373279" cy="434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2"/>
              </a:lnSpc>
            </a:pPr>
            <a:r>
              <a:rPr lang="en-US" sz="2812" b="1" spc="-59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분류 (Classification)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07361" y="7789002"/>
            <a:ext cx="3373279" cy="434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2"/>
              </a:lnSpc>
            </a:pPr>
            <a:r>
              <a:rPr lang="en-US" sz="2812" b="1" spc="-264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군집 (Clustering)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57691" y="5583704"/>
            <a:ext cx="3373279" cy="434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2"/>
              </a:lnSpc>
            </a:pPr>
            <a:r>
              <a:rPr lang="en-US" sz="2812" b="1" spc="-59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회귀 (Regression)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57691" y="7789002"/>
            <a:ext cx="3860034" cy="434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2"/>
              </a:lnSpc>
            </a:pPr>
            <a:r>
              <a:rPr lang="en-US" sz="2812" b="1" spc="-292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생성 (Generation)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29647" y="5570541"/>
            <a:ext cx="2825698" cy="75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입력 데이터를 정해진 카테고리로 구분</a:t>
            </a:r>
          </a:p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예) 스팸 메일 판별, 이미지 인식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29647" y="7775839"/>
            <a:ext cx="2825698" cy="75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정답 없이 데이터의 유사한 패턴을 그룹화</a:t>
            </a:r>
          </a:p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예) 고객 세분화, 이상 탐지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79977" y="5570541"/>
            <a:ext cx="2825698" cy="50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연속적인 수치를 예측하는 과업</a:t>
            </a:r>
          </a:p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예) 주가 예측, 부동산 가격 추정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79977" y="7775839"/>
            <a:ext cx="2825698" cy="75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새로운 데이터(텍스트·이미지 등)를 생성</a:t>
            </a:r>
          </a:p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예) ChatGPT, 이미지 생성 AI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345273" y="952453"/>
            <a:ext cx="3914027" cy="16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139"/>
              </a:lnSpc>
            </a:pPr>
            <a:r>
              <a:rPr lang="en-US" sz="1200" spc="-58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노희민(정답풀이) / 한국폴리텍대학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95094" y="3438526"/>
            <a:ext cx="10097813" cy="60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AI는 해결하려는 문제의 성격에 따라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크게 네 가지 과업 유형으로 나뉩니다.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4549" y="2214861"/>
            <a:ext cx="7038901" cy="521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68"/>
              </a:lnSpc>
            </a:pPr>
            <a:r>
              <a:rPr lang="en-US" sz="3481" spc="-167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AI의 분류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1854" y="806758"/>
            <a:ext cx="6921360" cy="415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74"/>
              </a:lnSpc>
            </a:pPr>
            <a:r>
              <a:rPr lang="en-US" sz="2410" spc="-118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AI 기초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66186" y="5953657"/>
            <a:ext cx="4109279" cy="3086100"/>
            <a:chOff x="0" y="0"/>
            <a:chExt cx="1082279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2279" cy="812800"/>
            </a:xfrm>
            <a:custGeom>
              <a:avLst/>
              <a:gdLst/>
              <a:ahLst/>
              <a:cxnLst/>
              <a:rect l="l" t="t" r="r" b="b"/>
              <a:pathLst>
                <a:path w="1082279" h="812800">
                  <a:moveTo>
                    <a:pt x="30144" y="0"/>
                  </a:moveTo>
                  <a:lnTo>
                    <a:pt x="1052135" y="0"/>
                  </a:lnTo>
                  <a:cubicBezTo>
                    <a:pt x="1068783" y="0"/>
                    <a:pt x="1082279" y="13496"/>
                    <a:pt x="1082279" y="30144"/>
                  </a:cubicBezTo>
                  <a:lnTo>
                    <a:pt x="1082279" y="782656"/>
                  </a:lnTo>
                  <a:cubicBezTo>
                    <a:pt x="1082279" y="790651"/>
                    <a:pt x="1079103" y="798318"/>
                    <a:pt x="1073450" y="803971"/>
                  </a:cubicBezTo>
                  <a:cubicBezTo>
                    <a:pt x="1067797" y="809624"/>
                    <a:pt x="1060130" y="812800"/>
                    <a:pt x="1052135" y="812800"/>
                  </a:cubicBezTo>
                  <a:lnTo>
                    <a:pt x="30144" y="812800"/>
                  </a:lnTo>
                  <a:cubicBezTo>
                    <a:pt x="22149" y="812800"/>
                    <a:pt x="14482" y="809624"/>
                    <a:pt x="8829" y="803971"/>
                  </a:cubicBezTo>
                  <a:cubicBezTo>
                    <a:pt x="3176" y="798318"/>
                    <a:pt x="0" y="790651"/>
                    <a:pt x="0" y="782656"/>
                  </a:cubicBezTo>
                  <a:lnTo>
                    <a:pt x="0" y="30144"/>
                  </a:lnTo>
                  <a:cubicBezTo>
                    <a:pt x="0" y="22149"/>
                    <a:pt x="3176" y="14482"/>
                    <a:pt x="8829" y="8829"/>
                  </a:cubicBezTo>
                  <a:cubicBezTo>
                    <a:pt x="14482" y="3176"/>
                    <a:pt x="22149" y="0"/>
                    <a:pt x="30144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82279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192014" y="5953657"/>
            <a:ext cx="4109279" cy="3086100"/>
            <a:chOff x="0" y="0"/>
            <a:chExt cx="1082279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2279" cy="812800"/>
            </a:xfrm>
            <a:custGeom>
              <a:avLst/>
              <a:gdLst/>
              <a:ahLst/>
              <a:cxnLst/>
              <a:rect l="l" t="t" r="r" b="b"/>
              <a:pathLst>
                <a:path w="1082279" h="812800">
                  <a:moveTo>
                    <a:pt x="30144" y="0"/>
                  </a:moveTo>
                  <a:lnTo>
                    <a:pt x="1052135" y="0"/>
                  </a:lnTo>
                  <a:cubicBezTo>
                    <a:pt x="1068783" y="0"/>
                    <a:pt x="1082279" y="13496"/>
                    <a:pt x="1082279" y="30144"/>
                  </a:cubicBezTo>
                  <a:lnTo>
                    <a:pt x="1082279" y="782656"/>
                  </a:lnTo>
                  <a:cubicBezTo>
                    <a:pt x="1082279" y="790651"/>
                    <a:pt x="1079103" y="798318"/>
                    <a:pt x="1073450" y="803971"/>
                  </a:cubicBezTo>
                  <a:cubicBezTo>
                    <a:pt x="1067797" y="809624"/>
                    <a:pt x="1060130" y="812800"/>
                    <a:pt x="1052135" y="812800"/>
                  </a:cubicBezTo>
                  <a:lnTo>
                    <a:pt x="30144" y="812800"/>
                  </a:lnTo>
                  <a:cubicBezTo>
                    <a:pt x="22149" y="812800"/>
                    <a:pt x="14482" y="809624"/>
                    <a:pt x="8829" y="803971"/>
                  </a:cubicBezTo>
                  <a:cubicBezTo>
                    <a:pt x="3176" y="798318"/>
                    <a:pt x="0" y="790651"/>
                    <a:pt x="0" y="782656"/>
                  </a:cubicBezTo>
                  <a:lnTo>
                    <a:pt x="0" y="30144"/>
                  </a:lnTo>
                  <a:cubicBezTo>
                    <a:pt x="0" y="22149"/>
                    <a:pt x="3176" y="14482"/>
                    <a:pt x="8829" y="8829"/>
                  </a:cubicBezTo>
                  <a:cubicBezTo>
                    <a:pt x="14482" y="3176"/>
                    <a:pt x="22149" y="0"/>
                    <a:pt x="30144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82279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320467" y="5953657"/>
            <a:ext cx="4109279" cy="3086100"/>
            <a:chOff x="0" y="0"/>
            <a:chExt cx="1082279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82279" cy="812800"/>
            </a:xfrm>
            <a:custGeom>
              <a:avLst/>
              <a:gdLst/>
              <a:ahLst/>
              <a:cxnLst/>
              <a:rect l="l" t="t" r="r" b="b"/>
              <a:pathLst>
                <a:path w="1082279" h="812800">
                  <a:moveTo>
                    <a:pt x="30144" y="0"/>
                  </a:moveTo>
                  <a:lnTo>
                    <a:pt x="1052135" y="0"/>
                  </a:lnTo>
                  <a:cubicBezTo>
                    <a:pt x="1068783" y="0"/>
                    <a:pt x="1082279" y="13496"/>
                    <a:pt x="1082279" y="30144"/>
                  </a:cubicBezTo>
                  <a:lnTo>
                    <a:pt x="1082279" y="782656"/>
                  </a:lnTo>
                  <a:cubicBezTo>
                    <a:pt x="1082279" y="790651"/>
                    <a:pt x="1079103" y="798318"/>
                    <a:pt x="1073450" y="803971"/>
                  </a:cubicBezTo>
                  <a:cubicBezTo>
                    <a:pt x="1067797" y="809624"/>
                    <a:pt x="1060130" y="812800"/>
                    <a:pt x="1052135" y="812800"/>
                  </a:cubicBezTo>
                  <a:lnTo>
                    <a:pt x="30144" y="812800"/>
                  </a:lnTo>
                  <a:cubicBezTo>
                    <a:pt x="22149" y="812800"/>
                    <a:pt x="14482" y="809624"/>
                    <a:pt x="8829" y="803971"/>
                  </a:cubicBezTo>
                  <a:cubicBezTo>
                    <a:pt x="3176" y="798318"/>
                    <a:pt x="0" y="790651"/>
                    <a:pt x="0" y="782656"/>
                  </a:cubicBezTo>
                  <a:lnTo>
                    <a:pt x="0" y="30144"/>
                  </a:lnTo>
                  <a:cubicBezTo>
                    <a:pt x="0" y="22149"/>
                    <a:pt x="3176" y="14482"/>
                    <a:pt x="8829" y="8829"/>
                  </a:cubicBezTo>
                  <a:cubicBezTo>
                    <a:pt x="14482" y="3176"/>
                    <a:pt x="22149" y="0"/>
                    <a:pt x="30144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82279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20258" y="3429001"/>
            <a:ext cx="8819541" cy="1177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머신러닝은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데이터를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어떻게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활용하느냐에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따라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세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가지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학습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유형으로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나뉩니다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.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정답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(label)의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유무와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학습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방식의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차이를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이해하는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것이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핵심입니다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.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각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유형은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서로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다른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문제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상황에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적합하게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사용됩니다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07677" y="7773456"/>
            <a:ext cx="3839881" cy="77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정답(label) 데이터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존재 → 분류·회귀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13636" y="7773456"/>
            <a:ext cx="3839881" cy="77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정답 없이 패턴과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구조 자동 발견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49397" y="7773456"/>
            <a:ext cx="3839881" cy="77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보상 신호 기반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의사결정 최적화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24549" y="2103553"/>
            <a:ext cx="7038901" cy="76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23"/>
              </a:lnSpc>
            </a:pPr>
            <a:r>
              <a:rPr lang="en-US" sz="5196" spc="-249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지도·비지도·강화학습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27199" y="6697948"/>
            <a:ext cx="3820359" cy="5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지도학습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13291" y="6697948"/>
            <a:ext cx="3820359" cy="5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비지도학습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49052" y="6697948"/>
            <a:ext cx="3820359" cy="5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강화학습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45273" y="952453"/>
            <a:ext cx="3914027" cy="19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24"/>
              </a:lnSpc>
            </a:pPr>
            <a:r>
              <a:rPr lang="en-US" sz="1498" spc="-73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(입문) 강의 슬라이드</a:t>
            </a:r>
          </a:p>
        </p:txBody>
      </p:sp>
      <p:sp>
        <p:nvSpPr>
          <p:cNvPr id="23" name="AutoShape 23"/>
          <p:cNvSpPr/>
          <p:nvPr/>
        </p:nvSpPr>
        <p:spPr>
          <a:xfrm>
            <a:off x="2378429" y="7477657"/>
            <a:ext cx="350239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7504257" y="7477657"/>
            <a:ext cx="350239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12640018" y="7477657"/>
            <a:ext cx="350239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/>
          <p:cNvSpPr txBox="1"/>
          <p:nvPr/>
        </p:nvSpPr>
        <p:spPr>
          <a:xfrm>
            <a:off x="1091854" y="787708"/>
            <a:ext cx="6921360" cy="622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spc="-176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학습 유형 비교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66186" y="5953657"/>
            <a:ext cx="4109279" cy="3086100"/>
            <a:chOff x="0" y="0"/>
            <a:chExt cx="1082279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2279" cy="812800"/>
            </a:xfrm>
            <a:custGeom>
              <a:avLst/>
              <a:gdLst/>
              <a:ahLst/>
              <a:cxnLst/>
              <a:rect l="l" t="t" r="r" b="b"/>
              <a:pathLst>
                <a:path w="1082279" h="812800">
                  <a:moveTo>
                    <a:pt x="30144" y="0"/>
                  </a:moveTo>
                  <a:lnTo>
                    <a:pt x="1052135" y="0"/>
                  </a:lnTo>
                  <a:cubicBezTo>
                    <a:pt x="1068783" y="0"/>
                    <a:pt x="1082279" y="13496"/>
                    <a:pt x="1082279" y="30144"/>
                  </a:cubicBezTo>
                  <a:lnTo>
                    <a:pt x="1082279" y="782656"/>
                  </a:lnTo>
                  <a:cubicBezTo>
                    <a:pt x="1082279" y="790651"/>
                    <a:pt x="1079103" y="798318"/>
                    <a:pt x="1073450" y="803971"/>
                  </a:cubicBezTo>
                  <a:cubicBezTo>
                    <a:pt x="1067797" y="809624"/>
                    <a:pt x="1060130" y="812800"/>
                    <a:pt x="1052135" y="812800"/>
                  </a:cubicBezTo>
                  <a:lnTo>
                    <a:pt x="30144" y="812800"/>
                  </a:lnTo>
                  <a:cubicBezTo>
                    <a:pt x="22149" y="812800"/>
                    <a:pt x="14482" y="809624"/>
                    <a:pt x="8829" y="803971"/>
                  </a:cubicBezTo>
                  <a:cubicBezTo>
                    <a:pt x="3176" y="798318"/>
                    <a:pt x="0" y="790651"/>
                    <a:pt x="0" y="782656"/>
                  </a:cubicBezTo>
                  <a:lnTo>
                    <a:pt x="0" y="30144"/>
                  </a:lnTo>
                  <a:cubicBezTo>
                    <a:pt x="0" y="22149"/>
                    <a:pt x="3176" y="14482"/>
                    <a:pt x="8829" y="8829"/>
                  </a:cubicBezTo>
                  <a:cubicBezTo>
                    <a:pt x="14482" y="3176"/>
                    <a:pt x="22149" y="0"/>
                    <a:pt x="30144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82279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192014" y="5953657"/>
            <a:ext cx="4109279" cy="3086100"/>
            <a:chOff x="0" y="0"/>
            <a:chExt cx="1082279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2279" cy="812800"/>
            </a:xfrm>
            <a:custGeom>
              <a:avLst/>
              <a:gdLst/>
              <a:ahLst/>
              <a:cxnLst/>
              <a:rect l="l" t="t" r="r" b="b"/>
              <a:pathLst>
                <a:path w="1082279" h="812800">
                  <a:moveTo>
                    <a:pt x="30144" y="0"/>
                  </a:moveTo>
                  <a:lnTo>
                    <a:pt x="1052135" y="0"/>
                  </a:lnTo>
                  <a:cubicBezTo>
                    <a:pt x="1068783" y="0"/>
                    <a:pt x="1082279" y="13496"/>
                    <a:pt x="1082279" y="30144"/>
                  </a:cubicBezTo>
                  <a:lnTo>
                    <a:pt x="1082279" y="782656"/>
                  </a:lnTo>
                  <a:cubicBezTo>
                    <a:pt x="1082279" y="790651"/>
                    <a:pt x="1079103" y="798318"/>
                    <a:pt x="1073450" y="803971"/>
                  </a:cubicBezTo>
                  <a:cubicBezTo>
                    <a:pt x="1067797" y="809624"/>
                    <a:pt x="1060130" y="812800"/>
                    <a:pt x="1052135" y="812800"/>
                  </a:cubicBezTo>
                  <a:lnTo>
                    <a:pt x="30144" y="812800"/>
                  </a:lnTo>
                  <a:cubicBezTo>
                    <a:pt x="22149" y="812800"/>
                    <a:pt x="14482" y="809624"/>
                    <a:pt x="8829" y="803971"/>
                  </a:cubicBezTo>
                  <a:cubicBezTo>
                    <a:pt x="3176" y="798318"/>
                    <a:pt x="0" y="790651"/>
                    <a:pt x="0" y="782656"/>
                  </a:cubicBezTo>
                  <a:lnTo>
                    <a:pt x="0" y="30144"/>
                  </a:lnTo>
                  <a:cubicBezTo>
                    <a:pt x="0" y="22149"/>
                    <a:pt x="3176" y="14482"/>
                    <a:pt x="8829" y="8829"/>
                  </a:cubicBezTo>
                  <a:cubicBezTo>
                    <a:pt x="14482" y="3176"/>
                    <a:pt x="22149" y="0"/>
                    <a:pt x="30144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82279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320467" y="5953657"/>
            <a:ext cx="4109279" cy="3086100"/>
            <a:chOff x="0" y="0"/>
            <a:chExt cx="1082279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82279" cy="812800"/>
            </a:xfrm>
            <a:custGeom>
              <a:avLst/>
              <a:gdLst/>
              <a:ahLst/>
              <a:cxnLst/>
              <a:rect l="l" t="t" r="r" b="b"/>
              <a:pathLst>
                <a:path w="1082279" h="812800">
                  <a:moveTo>
                    <a:pt x="30144" y="0"/>
                  </a:moveTo>
                  <a:lnTo>
                    <a:pt x="1052135" y="0"/>
                  </a:lnTo>
                  <a:cubicBezTo>
                    <a:pt x="1068783" y="0"/>
                    <a:pt x="1082279" y="13496"/>
                    <a:pt x="1082279" y="30144"/>
                  </a:cubicBezTo>
                  <a:lnTo>
                    <a:pt x="1082279" y="782656"/>
                  </a:lnTo>
                  <a:cubicBezTo>
                    <a:pt x="1082279" y="790651"/>
                    <a:pt x="1079103" y="798318"/>
                    <a:pt x="1073450" y="803971"/>
                  </a:cubicBezTo>
                  <a:cubicBezTo>
                    <a:pt x="1067797" y="809624"/>
                    <a:pt x="1060130" y="812800"/>
                    <a:pt x="1052135" y="812800"/>
                  </a:cubicBezTo>
                  <a:lnTo>
                    <a:pt x="30144" y="812800"/>
                  </a:lnTo>
                  <a:cubicBezTo>
                    <a:pt x="22149" y="812800"/>
                    <a:pt x="14482" y="809624"/>
                    <a:pt x="8829" y="803971"/>
                  </a:cubicBezTo>
                  <a:cubicBezTo>
                    <a:pt x="3176" y="798318"/>
                    <a:pt x="0" y="790651"/>
                    <a:pt x="0" y="782656"/>
                  </a:cubicBezTo>
                  <a:lnTo>
                    <a:pt x="0" y="30144"/>
                  </a:lnTo>
                  <a:cubicBezTo>
                    <a:pt x="0" y="22149"/>
                    <a:pt x="3176" y="14482"/>
                    <a:pt x="8829" y="8829"/>
                  </a:cubicBezTo>
                  <a:cubicBezTo>
                    <a:pt x="14482" y="3176"/>
                    <a:pt x="22149" y="0"/>
                    <a:pt x="30144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82279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20259" y="3429001"/>
            <a:ext cx="8647482" cy="116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지도학습은 입력 데이터 X와 정답 레이블 y의 쌍으로 학습합니다.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모델 f(·)는 X를 받아 예측값을 출력하고, 손실함수 L(·)은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예측값과 실제 y의 차이를 수치화하여 학습 방향을 결정합니다.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07677" y="7773456"/>
            <a:ext cx="3839881" cy="77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학습 데이터 쌍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(X, y) 구성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13636" y="7773456"/>
            <a:ext cx="3839881" cy="77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X → f(X) → ŷ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예측값 출력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49397" y="7773456"/>
            <a:ext cx="3839881" cy="77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L(ŷ, y) 최소화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파라미터 최적화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24549" y="2204507"/>
            <a:ext cx="7038901" cy="55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17"/>
              </a:lnSpc>
            </a:pPr>
            <a:r>
              <a:rPr lang="en-US" sz="3699" spc="-177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지도학습을 구성하는 세 가지 핵심 요소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27199" y="6697948"/>
            <a:ext cx="3820359" cy="5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입력 X &amp; 정답 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13291" y="6697948"/>
            <a:ext cx="3820359" cy="5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모델 함수 f(·)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49052" y="6697948"/>
            <a:ext cx="3820359" cy="5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손실함수 L(·)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45273" y="952453"/>
            <a:ext cx="3914027" cy="19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24"/>
              </a:lnSpc>
            </a:pPr>
            <a:r>
              <a:rPr lang="en-US" sz="1498" spc="-73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(입문) | 노희민(정답풀이)</a:t>
            </a:r>
          </a:p>
        </p:txBody>
      </p:sp>
      <p:sp>
        <p:nvSpPr>
          <p:cNvPr id="23" name="AutoShape 23"/>
          <p:cNvSpPr/>
          <p:nvPr/>
        </p:nvSpPr>
        <p:spPr>
          <a:xfrm>
            <a:off x="2378429" y="7477657"/>
            <a:ext cx="350239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7504257" y="7477657"/>
            <a:ext cx="350239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12640018" y="7477657"/>
            <a:ext cx="350239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/>
          <p:cNvSpPr txBox="1"/>
          <p:nvPr/>
        </p:nvSpPr>
        <p:spPr>
          <a:xfrm>
            <a:off x="1091854" y="787708"/>
            <a:ext cx="6921360" cy="622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spc="-176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지도학습 핵심 3요소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45273" y="952453"/>
            <a:ext cx="3914027" cy="19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24"/>
              </a:lnSpc>
            </a:pPr>
            <a:r>
              <a:rPr lang="en-US" sz="1498" spc="-73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입문 프레젠테이션 8/30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1854" y="797233"/>
            <a:ext cx="6921360" cy="59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04"/>
              </a:lnSpc>
            </a:pPr>
            <a:r>
              <a:rPr lang="en-US" sz="3503" spc="-171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데이터셋 구성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95094" y="3130988"/>
            <a:ext cx="10097813" cy="77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학습·검증·테스트 데이터를 올바르게 분리해야 모델의 성능을 신뢰할 수 있습니다.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데이터 누수(leakage)가 발생하면 실제 환경에서 성능이 급격히 저하될 수 있습니다.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24549" y="2123122"/>
            <a:ext cx="7038901" cy="73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68"/>
              </a:lnSpc>
            </a:pPr>
            <a:r>
              <a:rPr lang="en-US" sz="5060" spc="-242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데이터셋 구성과 데이터 누수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515858" y="4208606"/>
            <a:ext cx="5049694" cy="504969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62984" y="4208606"/>
            <a:ext cx="5049694" cy="504969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939960" y="5489405"/>
            <a:ext cx="4201491" cy="1671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01"/>
              </a:lnSpc>
            </a:pPr>
            <a:r>
              <a:rPr lang="en-US" sz="5157" spc="-247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학습 / 검증 /</a:t>
            </a:r>
          </a:p>
          <a:p>
            <a:pPr marL="0" lvl="0" indent="0" algn="ctr">
              <a:lnSpc>
                <a:spcPts val="6601"/>
              </a:lnSpc>
            </a:pPr>
            <a:r>
              <a:rPr lang="en-US" sz="5157" spc="-247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테스트 분리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87085" y="5489405"/>
            <a:ext cx="4201491" cy="1671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01"/>
              </a:lnSpc>
            </a:pPr>
            <a:r>
              <a:rPr lang="en-US" sz="5157" spc="-247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데이터 누수</a:t>
            </a:r>
          </a:p>
          <a:p>
            <a:pPr marL="0" lvl="0" indent="0" algn="ctr">
              <a:lnSpc>
                <a:spcPts val="6601"/>
              </a:lnSpc>
            </a:pPr>
            <a:r>
              <a:rPr lang="en-US" sz="5157" spc="-247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(Leakage)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78387" y="7548531"/>
            <a:ext cx="3524635" cy="382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93"/>
              </a:lnSpc>
            </a:pPr>
            <a:r>
              <a:rPr lang="en-US" sz="2209" spc="-174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Train 70% · Val 15% · Test 15%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08959" y="7548531"/>
            <a:ext cx="3557743" cy="382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93"/>
              </a:lnSpc>
            </a:pPr>
            <a:r>
              <a:rPr lang="en-US" sz="2209" spc="-174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미래 정보 유입 → 성능 과대평가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095094" y="7373954"/>
            <a:ext cx="370792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10112021" y="7373954"/>
            <a:ext cx="370792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3493" y="4984560"/>
            <a:ext cx="7130683" cy="1850143"/>
            <a:chOff x="0" y="0"/>
            <a:chExt cx="1878040" cy="4872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8040" cy="487281"/>
            </a:xfrm>
            <a:custGeom>
              <a:avLst/>
              <a:gdLst/>
              <a:ahLst/>
              <a:cxnLst/>
              <a:rect l="l" t="t" r="r" b="b"/>
              <a:pathLst>
                <a:path w="1878040" h="487281">
                  <a:moveTo>
                    <a:pt x="0" y="0"/>
                  </a:moveTo>
                  <a:lnTo>
                    <a:pt x="1878040" y="0"/>
                  </a:lnTo>
                  <a:lnTo>
                    <a:pt x="1878040" y="487281"/>
                  </a:lnTo>
                  <a:lnTo>
                    <a:pt x="0" y="487281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78040" cy="52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53493" y="7189857"/>
            <a:ext cx="7130683" cy="1850143"/>
            <a:chOff x="0" y="0"/>
            <a:chExt cx="1878040" cy="487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78040" cy="487281"/>
            </a:xfrm>
            <a:custGeom>
              <a:avLst/>
              <a:gdLst/>
              <a:ahLst/>
              <a:cxnLst/>
              <a:rect l="l" t="t" r="r" b="b"/>
              <a:pathLst>
                <a:path w="1878040" h="487281">
                  <a:moveTo>
                    <a:pt x="0" y="0"/>
                  </a:moveTo>
                  <a:lnTo>
                    <a:pt x="1878040" y="0"/>
                  </a:lnTo>
                  <a:lnTo>
                    <a:pt x="1878040" y="487281"/>
                  </a:lnTo>
                  <a:lnTo>
                    <a:pt x="0" y="487281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78040" cy="52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03824" y="4984560"/>
            <a:ext cx="7130683" cy="1850143"/>
            <a:chOff x="0" y="0"/>
            <a:chExt cx="1878040" cy="4872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78040" cy="487281"/>
            </a:xfrm>
            <a:custGeom>
              <a:avLst/>
              <a:gdLst/>
              <a:ahLst/>
              <a:cxnLst/>
              <a:rect l="l" t="t" r="r" b="b"/>
              <a:pathLst>
                <a:path w="1878040" h="487281">
                  <a:moveTo>
                    <a:pt x="0" y="0"/>
                  </a:moveTo>
                  <a:lnTo>
                    <a:pt x="1878040" y="0"/>
                  </a:lnTo>
                  <a:lnTo>
                    <a:pt x="1878040" y="487281"/>
                  </a:lnTo>
                  <a:lnTo>
                    <a:pt x="0" y="487281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78040" cy="52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03824" y="7189857"/>
            <a:ext cx="7130683" cy="1850143"/>
            <a:chOff x="0" y="0"/>
            <a:chExt cx="1878040" cy="4872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78040" cy="487281"/>
            </a:xfrm>
            <a:custGeom>
              <a:avLst/>
              <a:gdLst/>
              <a:ahLst/>
              <a:cxnLst/>
              <a:rect l="l" t="t" r="r" b="b"/>
              <a:pathLst>
                <a:path w="1878040" h="487281">
                  <a:moveTo>
                    <a:pt x="0" y="0"/>
                  </a:moveTo>
                  <a:lnTo>
                    <a:pt x="1878040" y="0"/>
                  </a:lnTo>
                  <a:lnTo>
                    <a:pt x="1878040" y="487281"/>
                  </a:lnTo>
                  <a:lnTo>
                    <a:pt x="0" y="487281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78040" cy="52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207361" y="5574179"/>
            <a:ext cx="3373279" cy="453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8"/>
              </a:lnSpc>
            </a:pPr>
            <a:r>
              <a:rPr lang="en-US" sz="2899" b="1" spc="-60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정확도 (Accuracy)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07361" y="7779477"/>
            <a:ext cx="3373279" cy="453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8"/>
              </a:lnSpc>
            </a:pPr>
            <a:r>
              <a:rPr lang="en-US" sz="2899" b="1" spc="-272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MAE / MSE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57691" y="5574179"/>
            <a:ext cx="3373279" cy="453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8"/>
              </a:lnSpc>
            </a:pPr>
            <a:r>
              <a:rPr lang="en-US" sz="2899" b="1" spc="-60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정밀도 &amp; 재현율 &amp; F1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57691" y="7779477"/>
            <a:ext cx="3860034" cy="453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8"/>
              </a:lnSpc>
            </a:pPr>
            <a:r>
              <a:rPr lang="en-US" sz="2899" b="1" spc="-301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RMSE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29647" y="5570541"/>
            <a:ext cx="2825698" cy="75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전체 예측 중 올바르게 맞힌 비율 · 클래스 불균형 시 오해 주의</a:t>
            </a:r>
          </a:p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→ (TP+TN) / 전체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29647" y="7775839"/>
            <a:ext cx="2825698" cy="1017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</a:pP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MAE: </a:t>
            </a:r>
            <a:r>
              <a:rPr lang="en-US" sz="1439" dirty="0" err="1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오차</a:t>
            </a: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439" dirty="0" err="1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절댓값</a:t>
            </a: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439" dirty="0" err="1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평균</a:t>
            </a: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</a:p>
          <a:p>
            <a:pPr marL="0" lvl="0" indent="0" algn="l">
              <a:lnSpc>
                <a:spcPts val="2015"/>
              </a:lnSpc>
            </a:pP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          (</a:t>
            </a:r>
            <a:r>
              <a:rPr lang="en-US" sz="1439" dirty="0" err="1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이상치</a:t>
            </a: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덜 </a:t>
            </a:r>
            <a:r>
              <a:rPr lang="en-US" sz="1439" dirty="0" err="1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민감</a:t>
            </a: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)</a:t>
            </a:r>
          </a:p>
          <a:p>
            <a:pPr marL="0" lvl="0" indent="0" algn="l">
              <a:lnSpc>
                <a:spcPts val="2015"/>
              </a:lnSpc>
            </a:pP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MSE: </a:t>
            </a:r>
            <a:r>
              <a:rPr lang="en-US" sz="1439" dirty="0" err="1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오차</a:t>
            </a: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439" dirty="0" err="1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제곱</a:t>
            </a: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439" dirty="0" err="1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평균</a:t>
            </a: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</a:p>
          <a:p>
            <a:pPr marL="0" lvl="0" indent="0" algn="l">
              <a:lnSpc>
                <a:spcPts val="2015"/>
              </a:lnSpc>
            </a:pP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          (큰 </a:t>
            </a:r>
            <a:r>
              <a:rPr lang="en-US" sz="1439" dirty="0" err="1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오차에</a:t>
            </a: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더 큰 </a:t>
            </a:r>
            <a:r>
              <a:rPr lang="en-US" sz="1439" dirty="0" err="1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패널티</a:t>
            </a: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79977" y="5570541"/>
            <a:ext cx="2825698" cy="75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정밀도: 양성 예측 중 실제 양성 비율 · 재현율: 실제 양성 중 탐지 비율</a:t>
            </a:r>
          </a:p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F1 = 두 지표의 조화평균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79977" y="7775839"/>
            <a:ext cx="2825698" cy="10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MSE의 제곱근 → 원래 단위로 해석 가능</a:t>
            </a:r>
          </a:p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예측값과 실제값 차이를 직관적으로 표현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345273" y="952453"/>
            <a:ext cx="3914027" cy="16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139"/>
              </a:lnSpc>
            </a:pPr>
            <a:r>
              <a:rPr lang="en-US" sz="1200" spc="-58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오윤지 자기소개 프레젠테이션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95094" y="3438526"/>
            <a:ext cx="10097813" cy="60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모델이 얼마나 잘 예측하는지 측정하는 지표는 문제 유형에 따라 다릅니다.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분류와 회귀 각각의 핵심 지표를 이해합니다.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4549" y="2223972"/>
            <a:ext cx="7038901" cy="5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93"/>
              </a:lnSpc>
            </a:pPr>
            <a:r>
              <a:rPr lang="en-US" sz="3590" spc="-172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문제 유형별 성능 지표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1854" y="797233"/>
            <a:ext cx="6921360" cy="441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79"/>
              </a:lnSpc>
            </a:pPr>
            <a:r>
              <a:rPr lang="en-US" sz="2485" spc="-121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대학생활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3493" y="4984560"/>
            <a:ext cx="7130683" cy="1850143"/>
            <a:chOff x="0" y="0"/>
            <a:chExt cx="1878040" cy="4872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8040" cy="487281"/>
            </a:xfrm>
            <a:custGeom>
              <a:avLst/>
              <a:gdLst/>
              <a:ahLst/>
              <a:cxnLst/>
              <a:rect l="l" t="t" r="r" b="b"/>
              <a:pathLst>
                <a:path w="1878040" h="487281">
                  <a:moveTo>
                    <a:pt x="0" y="0"/>
                  </a:moveTo>
                  <a:lnTo>
                    <a:pt x="1878040" y="0"/>
                  </a:lnTo>
                  <a:lnTo>
                    <a:pt x="1878040" y="487281"/>
                  </a:lnTo>
                  <a:lnTo>
                    <a:pt x="0" y="487281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78040" cy="52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53493" y="7189857"/>
            <a:ext cx="7130683" cy="1850143"/>
            <a:chOff x="0" y="0"/>
            <a:chExt cx="1878040" cy="487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78040" cy="487281"/>
            </a:xfrm>
            <a:custGeom>
              <a:avLst/>
              <a:gdLst/>
              <a:ahLst/>
              <a:cxnLst/>
              <a:rect l="l" t="t" r="r" b="b"/>
              <a:pathLst>
                <a:path w="1878040" h="487281">
                  <a:moveTo>
                    <a:pt x="0" y="0"/>
                  </a:moveTo>
                  <a:lnTo>
                    <a:pt x="1878040" y="0"/>
                  </a:lnTo>
                  <a:lnTo>
                    <a:pt x="1878040" y="487281"/>
                  </a:lnTo>
                  <a:lnTo>
                    <a:pt x="0" y="487281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78040" cy="52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03824" y="4984560"/>
            <a:ext cx="7130683" cy="1850143"/>
            <a:chOff x="0" y="0"/>
            <a:chExt cx="1878040" cy="4872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78040" cy="487281"/>
            </a:xfrm>
            <a:custGeom>
              <a:avLst/>
              <a:gdLst/>
              <a:ahLst/>
              <a:cxnLst/>
              <a:rect l="l" t="t" r="r" b="b"/>
              <a:pathLst>
                <a:path w="1878040" h="487281">
                  <a:moveTo>
                    <a:pt x="0" y="0"/>
                  </a:moveTo>
                  <a:lnTo>
                    <a:pt x="1878040" y="0"/>
                  </a:lnTo>
                  <a:lnTo>
                    <a:pt x="1878040" y="487281"/>
                  </a:lnTo>
                  <a:lnTo>
                    <a:pt x="0" y="487281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78040" cy="52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03824" y="7189857"/>
            <a:ext cx="7130683" cy="1850143"/>
            <a:chOff x="0" y="0"/>
            <a:chExt cx="1878040" cy="4872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78040" cy="487281"/>
            </a:xfrm>
            <a:custGeom>
              <a:avLst/>
              <a:gdLst/>
              <a:ahLst/>
              <a:cxnLst/>
              <a:rect l="l" t="t" r="r" b="b"/>
              <a:pathLst>
                <a:path w="1878040" h="487281">
                  <a:moveTo>
                    <a:pt x="0" y="0"/>
                  </a:moveTo>
                  <a:lnTo>
                    <a:pt x="1878040" y="0"/>
                  </a:lnTo>
                  <a:lnTo>
                    <a:pt x="1878040" y="487281"/>
                  </a:lnTo>
                  <a:lnTo>
                    <a:pt x="0" y="487281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78040" cy="52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207361" y="5583704"/>
            <a:ext cx="3373279" cy="37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76"/>
              </a:lnSpc>
            </a:pPr>
            <a:r>
              <a:rPr lang="en-US" sz="2460" b="1" spc="-51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과적합 (Overfitting)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07361" y="7789002"/>
            <a:ext cx="3373279" cy="37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76"/>
              </a:lnSpc>
            </a:pPr>
            <a:r>
              <a:rPr lang="en-US" sz="2460" b="1" spc="-231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데이터 확장 · 정규화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57691" y="5583704"/>
            <a:ext cx="3373279" cy="37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76"/>
              </a:lnSpc>
            </a:pPr>
            <a:r>
              <a:rPr lang="en-US" sz="2460" b="1" spc="-51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과소적합 (Underfitting)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57691" y="7789002"/>
            <a:ext cx="3860034" cy="37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76"/>
              </a:lnSpc>
            </a:pPr>
            <a:r>
              <a:rPr lang="en-US" sz="2460" b="1" spc="-255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드롭아웃 · 조기 종료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29647" y="5570541"/>
            <a:ext cx="2825698" cy="50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학습 오차 ↓, 일반화 오차 ↑</a:t>
            </a:r>
          </a:p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훈련 데이터를 과도하게 암기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29647" y="7775839"/>
            <a:ext cx="2825698" cy="50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더 많은 데이터 확보 또는 증강</a:t>
            </a:r>
          </a:p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L1/L2 정규화로 가중치 제한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79977" y="5570541"/>
            <a:ext cx="2825698" cy="50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학습 오차 ↑, 일반화 오차 ↑</a:t>
            </a:r>
          </a:p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모델이 너무 단순해 패턴 미학습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79977" y="7775839"/>
            <a:ext cx="2900662" cy="504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</a:pPr>
            <a:r>
              <a:rPr lang="en-US" sz="1439" dirty="0" err="1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Dropout으로</a:t>
            </a: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439" dirty="0" err="1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뉴런</a:t>
            </a: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439" dirty="0" err="1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무작위</a:t>
            </a: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439" dirty="0" err="1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비활성화</a:t>
            </a:r>
            <a:endParaRPr lang="en-US" sz="1439" dirty="0">
              <a:solidFill>
                <a:srgbClr val="191919"/>
              </a:solidFill>
              <a:latin typeface="Tlab 모던라이프 Light"/>
              <a:ea typeface="Tlab 모던라이프 Light"/>
              <a:cs typeface="Tlab 모던라이프 Light"/>
              <a:sym typeface="Tlab 모던라이프 Light"/>
            </a:endParaRPr>
          </a:p>
          <a:p>
            <a:pPr marL="0" lvl="0" indent="0" algn="l">
              <a:lnSpc>
                <a:spcPts val="2015"/>
              </a:lnSpc>
            </a:pPr>
            <a:r>
              <a:rPr lang="en-US" sz="1439" dirty="0" err="1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검증</a:t>
            </a: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439" dirty="0" err="1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오차</a:t>
            </a: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439" dirty="0" err="1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증가</a:t>
            </a: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439" dirty="0" err="1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시점에</a:t>
            </a: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439" dirty="0" err="1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학습</a:t>
            </a:r>
            <a:r>
              <a:rPr lang="en-US" sz="1439" dirty="0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439" dirty="0" err="1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중단</a:t>
            </a:r>
            <a:endParaRPr lang="en-US" sz="1439" dirty="0">
              <a:solidFill>
                <a:srgbClr val="191919"/>
              </a:solidFill>
              <a:latin typeface="Tlab 모던라이프 Light"/>
              <a:ea typeface="Tlab 모던라이프 Light"/>
              <a:cs typeface="Tlab 모던라이프 Light"/>
              <a:sym typeface="Tlab 모던라이프 Light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345273" y="952453"/>
            <a:ext cx="3914027" cy="16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139"/>
              </a:lnSpc>
            </a:pPr>
            <a:r>
              <a:rPr lang="en-US" sz="1200" spc="-58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입문 강의 | 노희민(정답풀이)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95094" y="3438526"/>
            <a:ext cx="10097813" cy="60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모델이 너무 외우거나 너무 단순하면 실전에서 실패합니다.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학습 오차와 일반화 오차의 균형이 핵심입니다.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4549" y="2103553"/>
            <a:ext cx="7038901" cy="76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23"/>
              </a:lnSpc>
            </a:pPr>
            <a:r>
              <a:rPr lang="en-US" sz="5196" spc="-249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과적합과 과소적합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1854" y="797233"/>
            <a:ext cx="6921360" cy="49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31"/>
              </a:lnSpc>
            </a:pPr>
            <a:r>
              <a:rPr lang="en-US" sz="2879" spc="-141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대학생활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57904" y="8009605"/>
            <a:ext cx="14172192" cy="1248695"/>
            <a:chOff x="0" y="0"/>
            <a:chExt cx="3732594" cy="3288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32593" cy="328874"/>
            </a:xfrm>
            <a:custGeom>
              <a:avLst/>
              <a:gdLst/>
              <a:ahLst/>
              <a:cxnLst/>
              <a:rect l="l" t="t" r="r" b="b"/>
              <a:pathLst>
                <a:path w="3732593" h="328874">
                  <a:moveTo>
                    <a:pt x="8740" y="0"/>
                  </a:moveTo>
                  <a:lnTo>
                    <a:pt x="3723853" y="0"/>
                  </a:lnTo>
                  <a:cubicBezTo>
                    <a:pt x="3726171" y="0"/>
                    <a:pt x="3728395" y="921"/>
                    <a:pt x="3730034" y="2560"/>
                  </a:cubicBezTo>
                  <a:cubicBezTo>
                    <a:pt x="3731673" y="4199"/>
                    <a:pt x="3732593" y="6422"/>
                    <a:pt x="3732593" y="8740"/>
                  </a:cubicBezTo>
                  <a:lnTo>
                    <a:pt x="3732593" y="320134"/>
                  </a:lnTo>
                  <a:cubicBezTo>
                    <a:pt x="3732593" y="322452"/>
                    <a:pt x="3731673" y="324675"/>
                    <a:pt x="3730034" y="326314"/>
                  </a:cubicBezTo>
                  <a:cubicBezTo>
                    <a:pt x="3728395" y="327954"/>
                    <a:pt x="3726171" y="328874"/>
                    <a:pt x="3723853" y="328874"/>
                  </a:cubicBezTo>
                  <a:lnTo>
                    <a:pt x="8740" y="328874"/>
                  </a:lnTo>
                  <a:cubicBezTo>
                    <a:pt x="3913" y="328874"/>
                    <a:pt x="0" y="324961"/>
                    <a:pt x="0" y="320134"/>
                  </a:cubicBezTo>
                  <a:lnTo>
                    <a:pt x="0" y="8740"/>
                  </a:lnTo>
                  <a:cubicBezTo>
                    <a:pt x="0" y="3913"/>
                    <a:pt x="3913" y="0"/>
                    <a:pt x="874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3732594" cy="338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057904" y="4392934"/>
            <a:ext cx="3125454" cy="3125454"/>
            <a:chOff x="0" y="0"/>
            <a:chExt cx="658503" cy="6585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8503" cy="658503"/>
            </a:xfrm>
            <a:custGeom>
              <a:avLst/>
              <a:gdLst/>
              <a:ahLst/>
              <a:cxnLst/>
              <a:rect l="l" t="t" r="r" b="b"/>
              <a:pathLst>
                <a:path w="658503" h="658503">
                  <a:moveTo>
                    <a:pt x="329252" y="0"/>
                  </a:moveTo>
                  <a:cubicBezTo>
                    <a:pt x="147411" y="0"/>
                    <a:pt x="0" y="147411"/>
                    <a:pt x="0" y="329252"/>
                  </a:cubicBezTo>
                  <a:cubicBezTo>
                    <a:pt x="0" y="511092"/>
                    <a:pt x="147411" y="658503"/>
                    <a:pt x="329252" y="658503"/>
                  </a:cubicBezTo>
                  <a:cubicBezTo>
                    <a:pt x="511092" y="658503"/>
                    <a:pt x="658503" y="511092"/>
                    <a:pt x="658503" y="329252"/>
                  </a:cubicBezTo>
                  <a:cubicBezTo>
                    <a:pt x="658503" y="147411"/>
                    <a:pt x="511092" y="0"/>
                    <a:pt x="329252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61735" y="52210"/>
              <a:ext cx="535034" cy="544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04641" y="4392934"/>
            <a:ext cx="3125454" cy="3125454"/>
            <a:chOff x="0" y="0"/>
            <a:chExt cx="658503" cy="6585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58503" cy="658503"/>
            </a:xfrm>
            <a:custGeom>
              <a:avLst/>
              <a:gdLst/>
              <a:ahLst/>
              <a:cxnLst/>
              <a:rect l="l" t="t" r="r" b="b"/>
              <a:pathLst>
                <a:path w="658503" h="658503">
                  <a:moveTo>
                    <a:pt x="329252" y="0"/>
                  </a:moveTo>
                  <a:cubicBezTo>
                    <a:pt x="147411" y="0"/>
                    <a:pt x="0" y="147411"/>
                    <a:pt x="0" y="329252"/>
                  </a:cubicBezTo>
                  <a:cubicBezTo>
                    <a:pt x="0" y="511092"/>
                    <a:pt x="147411" y="658503"/>
                    <a:pt x="329252" y="658503"/>
                  </a:cubicBezTo>
                  <a:cubicBezTo>
                    <a:pt x="511092" y="658503"/>
                    <a:pt x="658503" y="511092"/>
                    <a:pt x="658503" y="329252"/>
                  </a:cubicBezTo>
                  <a:cubicBezTo>
                    <a:pt x="658503" y="147411"/>
                    <a:pt x="511092" y="0"/>
                    <a:pt x="329252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61735" y="52210"/>
              <a:ext cx="535034" cy="544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22679" y="4392934"/>
            <a:ext cx="3125454" cy="3125454"/>
            <a:chOff x="0" y="0"/>
            <a:chExt cx="658503" cy="6585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8503" cy="658503"/>
            </a:xfrm>
            <a:custGeom>
              <a:avLst/>
              <a:gdLst/>
              <a:ahLst/>
              <a:cxnLst/>
              <a:rect l="l" t="t" r="r" b="b"/>
              <a:pathLst>
                <a:path w="658503" h="658503">
                  <a:moveTo>
                    <a:pt x="329252" y="0"/>
                  </a:moveTo>
                  <a:cubicBezTo>
                    <a:pt x="147411" y="0"/>
                    <a:pt x="0" y="147411"/>
                    <a:pt x="0" y="329252"/>
                  </a:cubicBezTo>
                  <a:cubicBezTo>
                    <a:pt x="0" y="511092"/>
                    <a:pt x="147411" y="658503"/>
                    <a:pt x="329252" y="658503"/>
                  </a:cubicBezTo>
                  <a:cubicBezTo>
                    <a:pt x="511092" y="658503"/>
                    <a:pt x="658503" y="511092"/>
                    <a:pt x="658503" y="329252"/>
                  </a:cubicBezTo>
                  <a:cubicBezTo>
                    <a:pt x="658503" y="147411"/>
                    <a:pt x="511092" y="0"/>
                    <a:pt x="329252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61735" y="52210"/>
              <a:ext cx="535034" cy="544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13660" y="4395023"/>
            <a:ext cx="3125454" cy="3125454"/>
            <a:chOff x="0" y="0"/>
            <a:chExt cx="658503" cy="6585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58503" cy="658503"/>
            </a:xfrm>
            <a:custGeom>
              <a:avLst/>
              <a:gdLst/>
              <a:ahLst/>
              <a:cxnLst/>
              <a:rect l="l" t="t" r="r" b="b"/>
              <a:pathLst>
                <a:path w="658503" h="658503">
                  <a:moveTo>
                    <a:pt x="329252" y="0"/>
                  </a:moveTo>
                  <a:cubicBezTo>
                    <a:pt x="147411" y="0"/>
                    <a:pt x="0" y="147411"/>
                    <a:pt x="0" y="329252"/>
                  </a:cubicBezTo>
                  <a:cubicBezTo>
                    <a:pt x="0" y="511092"/>
                    <a:pt x="147411" y="658503"/>
                    <a:pt x="329252" y="658503"/>
                  </a:cubicBezTo>
                  <a:cubicBezTo>
                    <a:pt x="511092" y="658503"/>
                    <a:pt x="658503" y="511092"/>
                    <a:pt x="658503" y="329252"/>
                  </a:cubicBezTo>
                  <a:cubicBezTo>
                    <a:pt x="658503" y="147411"/>
                    <a:pt x="511092" y="0"/>
                    <a:pt x="329252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61735" y="52210"/>
              <a:ext cx="535034" cy="544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345273" y="952453"/>
            <a:ext cx="3914027" cy="16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139"/>
              </a:lnSpc>
            </a:pPr>
            <a:r>
              <a:rPr lang="en-US" sz="1200" spc="-58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(입문) | 노희민(정답풀이) · 한국폴리텍대학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95094" y="3140513"/>
            <a:ext cx="10097813" cy="298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문제 정의부터 배포·모니터링까지, 머신러닝 프로젝트의 전체 흐름을 한눈에 파악합니다.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24549" y="2103553"/>
            <a:ext cx="7038901" cy="76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23"/>
              </a:lnSpc>
            </a:pPr>
            <a:r>
              <a:rPr lang="en-US" sz="5196" spc="-249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모델 개발 전 과정 개요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13208" y="8386689"/>
            <a:ext cx="13175756" cy="5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⑤ 배포 / 모니터링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15750" y="5425503"/>
            <a:ext cx="2409763" cy="5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161616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① 문제 정의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415750" y="6317226"/>
            <a:ext cx="2409763" cy="567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88"/>
              </a:lnSpc>
            </a:pPr>
            <a:r>
              <a:rPr lang="en-US" sz="1919" spc="-92">
                <a:solidFill>
                  <a:srgbClr val="161616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목표 설정</a:t>
            </a:r>
          </a:p>
          <a:p>
            <a:pPr marL="0" lvl="0" indent="0" algn="ctr">
              <a:lnSpc>
                <a:spcPts val="2188"/>
              </a:lnSpc>
            </a:pPr>
            <a:r>
              <a:rPr lang="en-US" sz="1919" spc="-92">
                <a:solidFill>
                  <a:srgbClr val="161616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지표 결정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463040" y="5425503"/>
            <a:ext cx="2409763" cy="5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161616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④ 평가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463040" y="6317226"/>
            <a:ext cx="2409763" cy="567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88"/>
              </a:lnSpc>
            </a:pPr>
            <a:r>
              <a:rPr lang="en-US" sz="1919" spc="-92">
                <a:solidFill>
                  <a:srgbClr val="161616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성능 지표</a:t>
            </a:r>
          </a:p>
          <a:p>
            <a:pPr marL="0" lvl="0" indent="0" algn="ctr">
              <a:lnSpc>
                <a:spcPts val="2188"/>
              </a:lnSpc>
            </a:pPr>
            <a:r>
              <a:rPr lang="en-US" sz="1919" spc="-92">
                <a:solidFill>
                  <a:srgbClr val="161616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검증 데이터 확인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80525" y="5168328"/>
            <a:ext cx="2409763" cy="1046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161616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② 데이터</a:t>
            </a:r>
          </a:p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161616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수집/전처리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80525" y="6455339"/>
            <a:ext cx="2409763" cy="2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88"/>
              </a:lnSpc>
            </a:pPr>
            <a:r>
              <a:rPr lang="en-US" sz="1919" spc="-92">
                <a:solidFill>
                  <a:srgbClr val="161616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정제·분할·증강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71506" y="5425503"/>
            <a:ext cx="2409763" cy="5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161616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③ 학습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71506" y="6317226"/>
            <a:ext cx="2409763" cy="567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88"/>
              </a:lnSpc>
            </a:pPr>
            <a:r>
              <a:rPr lang="en-US" sz="1919" spc="-92">
                <a:solidFill>
                  <a:srgbClr val="161616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모델 선택</a:t>
            </a:r>
          </a:p>
          <a:p>
            <a:pPr marL="0" lvl="0" indent="0" algn="ctr">
              <a:lnSpc>
                <a:spcPts val="2188"/>
              </a:lnSpc>
            </a:pPr>
            <a:r>
              <a:rPr lang="en-US" sz="1919" spc="-92">
                <a:solidFill>
                  <a:srgbClr val="161616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파라미터 최적화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1854" y="787708"/>
            <a:ext cx="6921360" cy="622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spc="-176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모델 학습 END-TO-END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53493" y="4984560"/>
            <a:ext cx="5908829" cy="1144845"/>
            <a:chOff x="0" y="0"/>
            <a:chExt cx="1556235" cy="3015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53493" y="6365354"/>
            <a:ext cx="5908829" cy="1144845"/>
            <a:chOff x="0" y="0"/>
            <a:chExt cx="1556235" cy="3015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53493" y="7748324"/>
            <a:ext cx="5908829" cy="1144845"/>
            <a:chOff x="0" y="0"/>
            <a:chExt cx="1556235" cy="30152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684618" y="4983472"/>
            <a:ext cx="5908829" cy="1144845"/>
            <a:chOff x="0" y="0"/>
            <a:chExt cx="1556235" cy="3015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solidFill>
              <a:srgbClr val="00C4CC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684618" y="6364266"/>
            <a:ext cx="5908829" cy="1144845"/>
            <a:chOff x="0" y="0"/>
            <a:chExt cx="1556235" cy="3015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solidFill>
              <a:srgbClr val="00C4CC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684618" y="7747237"/>
            <a:ext cx="5908829" cy="1144845"/>
            <a:chOff x="0" y="0"/>
            <a:chExt cx="1556235" cy="3015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solidFill>
              <a:srgbClr val="00C4CC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7680420" y="6179343"/>
            <a:ext cx="3086100" cy="1519043"/>
            <a:chOff x="0" y="0"/>
            <a:chExt cx="812800" cy="40007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400077"/>
            </a:xfrm>
            <a:custGeom>
              <a:avLst/>
              <a:gdLst/>
              <a:ahLst/>
              <a:cxnLst/>
              <a:rect l="l" t="t" r="r" b="b"/>
              <a:pathLst>
                <a:path w="812800" h="400077">
                  <a:moveTo>
                    <a:pt x="406400" y="0"/>
                  </a:moveTo>
                  <a:lnTo>
                    <a:pt x="812800" y="400077"/>
                  </a:lnTo>
                  <a:lnTo>
                    <a:pt x="0" y="400077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27000" y="147650"/>
              <a:ext cx="558800" cy="223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345273" y="952453"/>
            <a:ext cx="3914027" cy="19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24"/>
              </a:lnSpc>
            </a:pPr>
            <a:r>
              <a:rPr lang="en-US" sz="1498" spc="-73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입문 강의 · 노희민(정답풀이)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95094" y="3130988"/>
            <a:ext cx="10097813" cy="77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딥러닝은 데이터에서 스스로 특징을 추출하며,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대용량 데이터와 GPU 연산으로 성능을 극대화합니다.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24549" y="2103553"/>
            <a:ext cx="7038901" cy="76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23"/>
              </a:lnSpc>
            </a:pPr>
            <a:r>
              <a:rPr lang="en-US" sz="5196" spc="-249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딥러닝이 강한 이유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13983" y="5231055"/>
            <a:ext cx="4187849" cy="64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78"/>
              </a:lnSpc>
            </a:pPr>
            <a:r>
              <a:rPr lang="en-US" sz="4197" b="1" spc="-88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표현 학습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545108" y="5229968"/>
            <a:ext cx="4187849" cy="64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78"/>
              </a:lnSpc>
            </a:pPr>
            <a:r>
              <a:rPr lang="en-US" sz="4197" b="1" spc="-88">
                <a:solidFill>
                  <a:srgbClr val="FFFFFF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특징 자동 추출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21268" y="6612938"/>
            <a:ext cx="3373279" cy="64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78"/>
              </a:lnSpc>
            </a:pPr>
            <a:r>
              <a:rPr lang="en-US" sz="4197" b="1" spc="-88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대용량 데이터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952393" y="6611850"/>
            <a:ext cx="3373279" cy="64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78"/>
              </a:lnSpc>
            </a:pPr>
            <a:r>
              <a:rPr lang="en-US" sz="4197" b="1" spc="-88">
                <a:solidFill>
                  <a:srgbClr val="FFFFFF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높은 정확도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604712" y="7994820"/>
            <a:ext cx="4406392" cy="64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78"/>
              </a:lnSpc>
            </a:pPr>
            <a:r>
              <a:rPr lang="en-US" sz="4197" b="1" spc="-88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GPU 병렬 연산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435837" y="7993732"/>
            <a:ext cx="4406392" cy="64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78"/>
              </a:lnSpc>
            </a:pPr>
            <a:r>
              <a:rPr lang="en-US" sz="4197" b="1" spc="-88">
                <a:solidFill>
                  <a:srgbClr val="FFFFFF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빠른 학습 속도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91854" y="787708"/>
            <a:ext cx="6921360" cy="622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spc="-176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딥러닝 기초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45273" y="952453"/>
            <a:ext cx="3914027" cy="16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139"/>
              </a:lnSpc>
            </a:pPr>
            <a:r>
              <a:rPr lang="en-US" sz="1200" spc="-58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입문 강의 | 13/30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1854" y="787708"/>
            <a:ext cx="6921360" cy="622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spc="-176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딥러닝 기초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95094" y="3140513"/>
            <a:ext cx="10230506" cy="628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신경망의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기본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단위인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퍼셉트론은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입력값에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가중치를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곱하고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편향을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더한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뒤 </a:t>
            </a: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활성화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함수를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통과시켜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출력을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만듭니다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.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선형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결합에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비선형성을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추가함으로써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복잡한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패턴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학습이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1761" spc="-139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가능해집니다</a:t>
            </a:r>
            <a:r>
              <a:rPr lang="en-US" sz="1761" spc="-139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24549" y="2103553"/>
            <a:ext cx="7038901" cy="76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23"/>
              </a:lnSpc>
            </a:pPr>
            <a:r>
              <a:rPr lang="en-US" sz="5196" spc="-249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뉴런과 퍼셉트론 개념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515858" y="4208606"/>
            <a:ext cx="5049694" cy="504969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62984" y="4208606"/>
            <a:ext cx="5049694" cy="504969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939960" y="5471060"/>
            <a:ext cx="4201491" cy="170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79"/>
              </a:lnSpc>
            </a:pPr>
            <a:r>
              <a:rPr lang="en-US" sz="5296" spc="-254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가중치·편향·</a:t>
            </a:r>
          </a:p>
          <a:p>
            <a:pPr marL="0" lvl="0" indent="0" algn="ctr">
              <a:lnSpc>
                <a:spcPts val="6779"/>
              </a:lnSpc>
            </a:pPr>
            <a:r>
              <a:rPr lang="en-US" sz="5296" spc="-254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활성화 함수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87085" y="5471060"/>
            <a:ext cx="4201491" cy="170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79"/>
              </a:lnSpc>
            </a:pPr>
            <a:r>
              <a:rPr lang="en-US" sz="5296" spc="-254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선형 결합과</a:t>
            </a:r>
          </a:p>
          <a:p>
            <a:pPr marL="0" lvl="0" indent="0" algn="ctr">
              <a:lnSpc>
                <a:spcPts val="6779"/>
              </a:lnSpc>
            </a:pPr>
            <a:r>
              <a:rPr lang="en-US" sz="5296" spc="-254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비선형성 역할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78387" y="7519956"/>
            <a:ext cx="3524635" cy="55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6"/>
              </a:lnSpc>
            </a:pPr>
            <a:r>
              <a:rPr lang="en-US" sz="3197" spc="-252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입력 X → f(wX + b)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08959" y="7519956"/>
            <a:ext cx="3557743" cy="55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6"/>
              </a:lnSpc>
            </a:pPr>
            <a:r>
              <a:rPr lang="en-US" sz="3197" spc="-252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복잡한 패턴 학습 가능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095094" y="7373954"/>
            <a:ext cx="370792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10112021" y="7373954"/>
            <a:ext cx="370792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66186" y="5953657"/>
            <a:ext cx="4109279" cy="3086100"/>
            <a:chOff x="0" y="0"/>
            <a:chExt cx="1082279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2279" cy="812800"/>
            </a:xfrm>
            <a:custGeom>
              <a:avLst/>
              <a:gdLst/>
              <a:ahLst/>
              <a:cxnLst/>
              <a:rect l="l" t="t" r="r" b="b"/>
              <a:pathLst>
                <a:path w="1082279" h="812800">
                  <a:moveTo>
                    <a:pt x="30144" y="0"/>
                  </a:moveTo>
                  <a:lnTo>
                    <a:pt x="1052135" y="0"/>
                  </a:lnTo>
                  <a:cubicBezTo>
                    <a:pt x="1068783" y="0"/>
                    <a:pt x="1082279" y="13496"/>
                    <a:pt x="1082279" y="30144"/>
                  </a:cubicBezTo>
                  <a:lnTo>
                    <a:pt x="1082279" y="782656"/>
                  </a:lnTo>
                  <a:cubicBezTo>
                    <a:pt x="1082279" y="790651"/>
                    <a:pt x="1079103" y="798318"/>
                    <a:pt x="1073450" y="803971"/>
                  </a:cubicBezTo>
                  <a:cubicBezTo>
                    <a:pt x="1067797" y="809624"/>
                    <a:pt x="1060130" y="812800"/>
                    <a:pt x="1052135" y="812800"/>
                  </a:cubicBezTo>
                  <a:lnTo>
                    <a:pt x="30144" y="812800"/>
                  </a:lnTo>
                  <a:cubicBezTo>
                    <a:pt x="22149" y="812800"/>
                    <a:pt x="14482" y="809624"/>
                    <a:pt x="8829" y="803971"/>
                  </a:cubicBezTo>
                  <a:cubicBezTo>
                    <a:pt x="3176" y="798318"/>
                    <a:pt x="0" y="790651"/>
                    <a:pt x="0" y="782656"/>
                  </a:cubicBezTo>
                  <a:lnTo>
                    <a:pt x="0" y="30144"/>
                  </a:lnTo>
                  <a:cubicBezTo>
                    <a:pt x="0" y="22149"/>
                    <a:pt x="3176" y="14482"/>
                    <a:pt x="8829" y="8829"/>
                  </a:cubicBezTo>
                  <a:cubicBezTo>
                    <a:pt x="14482" y="3176"/>
                    <a:pt x="22149" y="0"/>
                    <a:pt x="30144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82279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192014" y="5953657"/>
            <a:ext cx="4109279" cy="3086100"/>
            <a:chOff x="0" y="0"/>
            <a:chExt cx="1082279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2279" cy="812800"/>
            </a:xfrm>
            <a:custGeom>
              <a:avLst/>
              <a:gdLst/>
              <a:ahLst/>
              <a:cxnLst/>
              <a:rect l="l" t="t" r="r" b="b"/>
              <a:pathLst>
                <a:path w="1082279" h="812800">
                  <a:moveTo>
                    <a:pt x="30144" y="0"/>
                  </a:moveTo>
                  <a:lnTo>
                    <a:pt x="1052135" y="0"/>
                  </a:lnTo>
                  <a:cubicBezTo>
                    <a:pt x="1068783" y="0"/>
                    <a:pt x="1082279" y="13496"/>
                    <a:pt x="1082279" y="30144"/>
                  </a:cubicBezTo>
                  <a:lnTo>
                    <a:pt x="1082279" y="782656"/>
                  </a:lnTo>
                  <a:cubicBezTo>
                    <a:pt x="1082279" y="790651"/>
                    <a:pt x="1079103" y="798318"/>
                    <a:pt x="1073450" y="803971"/>
                  </a:cubicBezTo>
                  <a:cubicBezTo>
                    <a:pt x="1067797" y="809624"/>
                    <a:pt x="1060130" y="812800"/>
                    <a:pt x="1052135" y="812800"/>
                  </a:cubicBezTo>
                  <a:lnTo>
                    <a:pt x="30144" y="812800"/>
                  </a:lnTo>
                  <a:cubicBezTo>
                    <a:pt x="22149" y="812800"/>
                    <a:pt x="14482" y="809624"/>
                    <a:pt x="8829" y="803971"/>
                  </a:cubicBezTo>
                  <a:cubicBezTo>
                    <a:pt x="3176" y="798318"/>
                    <a:pt x="0" y="790651"/>
                    <a:pt x="0" y="782656"/>
                  </a:cubicBezTo>
                  <a:lnTo>
                    <a:pt x="0" y="30144"/>
                  </a:lnTo>
                  <a:cubicBezTo>
                    <a:pt x="0" y="22149"/>
                    <a:pt x="3176" y="14482"/>
                    <a:pt x="8829" y="8829"/>
                  </a:cubicBezTo>
                  <a:cubicBezTo>
                    <a:pt x="14482" y="3176"/>
                    <a:pt x="22149" y="0"/>
                    <a:pt x="30144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82279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320467" y="5953657"/>
            <a:ext cx="4109279" cy="3086100"/>
            <a:chOff x="0" y="0"/>
            <a:chExt cx="1082279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82279" cy="812800"/>
            </a:xfrm>
            <a:custGeom>
              <a:avLst/>
              <a:gdLst/>
              <a:ahLst/>
              <a:cxnLst/>
              <a:rect l="l" t="t" r="r" b="b"/>
              <a:pathLst>
                <a:path w="1082279" h="812800">
                  <a:moveTo>
                    <a:pt x="30144" y="0"/>
                  </a:moveTo>
                  <a:lnTo>
                    <a:pt x="1052135" y="0"/>
                  </a:lnTo>
                  <a:cubicBezTo>
                    <a:pt x="1068783" y="0"/>
                    <a:pt x="1082279" y="13496"/>
                    <a:pt x="1082279" y="30144"/>
                  </a:cubicBezTo>
                  <a:lnTo>
                    <a:pt x="1082279" y="782656"/>
                  </a:lnTo>
                  <a:cubicBezTo>
                    <a:pt x="1082279" y="790651"/>
                    <a:pt x="1079103" y="798318"/>
                    <a:pt x="1073450" y="803971"/>
                  </a:cubicBezTo>
                  <a:cubicBezTo>
                    <a:pt x="1067797" y="809624"/>
                    <a:pt x="1060130" y="812800"/>
                    <a:pt x="1052135" y="812800"/>
                  </a:cubicBezTo>
                  <a:lnTo>
                    <a:pt x="30144" y="812800"/>
                  </a:lnTo>
                  <a:cubicBezTo>
                    <a:pt x="22149" y="812800"/>
                    <a:pt x="14482" y="809624"/>
                    <a:pt x="8829" y="803971"/>
                  </a:cubicBezTo>
                  <a:cubicBezTo>
                    <a:pt x="3176" y="798318"/>
                    <a:pt x="0" y="790651"/>
                    <a:pt x="0" y="782656"/>
                  </a:cubicBezTo>
                  <a:lnTo>
                    <a:pt x="0" y="30144"/>
                  </a:lnTo>
                  <a:cubicBezTo>
                    <a:pt x="0" y="22149"/>
                    <a:pt x="3176" y="14482"/>
                    <a:pt x="8829" y="8829"/>
                  </a:cubicBezTo>
                  <a:cubicBezTo>
                    <a:pt x="14482" y="3176"/>
                    <a:pt x="22149" y="0"/>
                    <a:pt x="30144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82279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20259" y="3438526"/>
            <a:ext cx="8647482" cy="60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활성화 함수는 신경망에 비선형성을 도입하여 복잡한 패턴을 학습할 수 있게 합니다.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선형 함수만으로는 층을 쌓아도 표현력이 늘지 않으며, 활성화 함수가 이를 해결합니다.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07677" y="7782981"/>
            <a:ext cx="3839881" cy="90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f(x) = max(0, x)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음수 → 0, 양수 → 그대로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기울기 소실 완화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13636" y="7782981"/>
            <a:ext cx="3839881" cy="90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f(x) = 1/(1+e⁻ˣ)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출력 범위: 0~1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이진 분류 출력층에 사용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49397" y="7782981"/>
            <a:ext cx="3839881" cy="90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f(x) = (eˣ−e⁻ˣ)/(eˣ+e⁻ˣ)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출력 범위: −1~1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은닉층에서 활용 가능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24549" y="2103553"/>
            <a:ext cx="7038901" cy="76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23"/>
              </a:lnSpc>
            </a:pPr>
            <a:r>
              <a:rPr lang="en-US" sz="5196" spc="-249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활성화 함수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27199" y="6697948"/>
            <a:ext cx="3820359" cy="5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ReLU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13291" y="6697948"/>
            <a:ext cx="3820359" cy="5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Sigmoid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49052" y="6697948"/>
            <a:ext cx="3820359" cy="5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Tanh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45273" y="952453"/>
            <a:ext cx="3914027" cy="16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139"/>
              </a:lnSpc>
            </a:pPr>
            <a:r>
              <a:rPr lang="en-US" sz="1200" spc="-58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노희민(정답풀이) / 한국폴리텍대학 14</a:t>
            </a:r>
          </a:p>
        </p:txBody>
      </p:sp>
      <p:sp>
        <p:nvSpPr>
          <p:cNvPr id="23" name="AutoShape 23"/>
          <p:cNvSpPr/>
          <p:nvPr/>
        </p:nvSpPr>
        <p:spPr>
          <a:xfrm>
            <a:off x="2378429" y="7477657"/>
            <a:ext cx="350239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7504257" y="7477657"/>
            <a:ext cx="350239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12640018" y="7477657"/>
            <a:ext cx="350239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/>
          <p:cNvSpPr txBox="1"/>
          <p:nvPr/>
        </p:nvSpPr>
        <p:spPr>
          <a:xfrm>
            <a:off x="1091854" y="787708"/>
            <a:ext cx="6921360" cy="622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spc="-176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딥러닝 기초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45273" y="952453"/>
            <a:ext cx="3914027" cy="198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71"/>
              </a:lnSpc>
            </a:pPr>
            <a:r>
              <a:rPr lang="en-US" sz="1444" spc="-70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입문 프레젠테이션 · 15/30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1854" y="797233"/>
            <a:ext cx="6921360" cy="42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21"/>
              </a:lnSpc>
            </a:pPr>
            <a:r>
              <a:rPr lang="en-US" sz="2372" spc="-116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딥러닝 기초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95094" y="3130988"/>
            <a:ext cx="10097813" cy="736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67"/>
              </a:lnSpc>
            </a:pPr>
            <a:r>
              <a:rPr lang="en-US" sz="2119" spc="-167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손실 함수가 줄어드는 방향으로 파라미터를 반복 조정합니다.</a:t>
            </a:r>
          </a:p>
          <a:p>
            <a:pPr marL="0" lvl="0" indent="0" algn="ctr">
              <a:lnSpc>
                <a:spcPts val="2967"/>
              </a:lnSpc>
            </a:pPr>
            <a:r>
              <a:rPr lang="en-US" sz="2119" spc="-167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학습률(learning rate)은 한 번에 이동하는 보폭으로, 너무 크거나 작으면 학습이 불안정해집니다.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24549" y="2215069"/>
            <a:ext cx="7038901" cy="521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6"/>
              </a:lnSpc>
            </a:pPr>
            <a:r>
              <a:rPr lang="en-US" sz="3427" spc="-164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경사하강법(Gradient Descent)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515858" y="4208606"/>
            <a:ext cx="5049694" cy="504969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62984" y="4208606"/>
            <a:ext cx="5049694" cy="504969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939960" y="5476187"/>
            <a:ext cx="4201491" cy="169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1"/>
              </a:lnSpc>
            </a:pPr>
            <a:r>
              <a:rPr lang="en-US" sz="3493" spc="-167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손실 감소</a:t>
            </a:r>
          </a:p>
          <a:p>
            <a:pPr marL="0" lvl="0" indent="0" algn="ctr">
              <a:lnSpc>
                <a:spcPts val="4471"/>
              </a:lnSpc>
            </a:pPr>
            <a:r>
              <a:rPr lang="en-US" sz="3493" spc="-167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방향으로</a:t>
            </a:r>
          </a:p>
          <a:p>
            <a:pPr marL="0" lvl="0" indent="0" algn="ctr">
              <a:lnSpc>
                <a:spcPts val="4471"/>
              </a:lnSpc>
            </a:pPr>
            <a:r>
              <a:rPr lang="en-US" sz="3493" spc="-167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파라미터 조정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87085" y="5476187"/>
            <a:ext cx="4201491" cy="169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1"/>
              </a:lnSpc>
            </a:pPr>
            <a:r>
              <a:rPr lang="en-US" sz="3493" spc="-167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학습률</a:t>
            </a:r>
          </a:p>
          <a:p>
            <a:pPr marL="0" lvl="0" indent="0" algn="ctr">
              <a:lnSpc>
                <a:spcPts val="4471"/>
              </a:lnSpc>
            </a:pPr>
            <a:r>
              <a:rPr lang="en-US" sz="3493" spc="-167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(Learning</a:t>
            </a:r>
          </a:p>
          <a:p>
            <a:pPr marL="0" lvl="0" indent="0" algn="ctr">
              <a:lnSpc>
                <a:spcPts val="4471"/>
              </a:lnSpc>
            </a:pPr>
            <a:r>
              <a:rPr lang="en-US" sz="3493" spc="-167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Rate)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78387" y="7539006"/>
            <a:ext cx="3524635" cy="40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80"/>
              </a:lnSpc>
            </a:pPr>
            <a:r>
              <a:rPr lang="en-US" sz="2343" spc="-185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기울기(Gradient) 기반 최적화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08959" y="7539006"/>
            <a:ext cx="3557743" cy="40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80"/>
              </a:lnSpc>
            </a:pPr>
            <a:r>
              <a:rPr lang="en-US" sz="2343" spc="-185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보폭 크기 = 수렴 속도 결정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095094" y="7373954"/>
            <a:ext cx="370792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10112021" y="7373954"/>
            <a:ext cx="370792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45273" y="952453"/>
            <a:ext cx="3914027" cy="175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274"/>
              </a:lnSpc>
            </a:pPr>
            <a:r>
              <a:rPr lang="en-US" sz="1341" spc="-65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입문 강의 | 16/30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1854" y="816283"/>
            <a:ext cx="6921360" cy="430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9"/>
              </a:lnSpc>
            </a:pPr>
            <a:r>
              <a:rPr lang="en-US" sz="2542" spc="-124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역전파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95094" y="3121463"/>
            <a:ext cx="10097813" cy="692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57"/>
              </a:lnSpc>
            </a:pPr>
            <a:r>
              <a:rPr lang="en-US" sz="1969" spc="-155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오차를 출력층에서 입력층 방향으로 전달하며, 체인룰(chain rule)로 각 파라미터의 기울기를 계산합니다.</a:t>
            </a:r>
          </a:p>
          <a:p>
            <a:pPr marL="0" lvl="0" indent="0" algn="ctr">
              <a:lnSpc>
                <a:spcPts val="2757"/>
              </a:lnSpc>
            </a:pPr>
            <a:r>
              <a:rPr lang="en-US" sz="1969" spc="-155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PyTorch의 autograd가 이 과정을 자동으로 처리해 줍니다.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24549" y="2218898"/>
            <a:ext cx="7038901" cy="532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6"/>
              </a:lnSpc>
            </a:pPr>
            <a:r>
              <a:rPr lang="en-US" sz="3672" spc="-176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한 장으로 이해하는 Backpropagation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515858" y="4208606"/>
            <a:ext cx="5049694" cy="504969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62984" y="4208606"/>
            <a:ext cx="5049694" cy="504969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939960" y="5729868"/>
            <a:ext cx="4201491" cy="1200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90"/>
              </a:lnSpc>
            </a:pPr>
            <a:r>
              <a:rPr lang="en-US" sz="3742" spc="-179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미분과</a:t>
            </a:r>
          </a:p>
          <a:p>
            <a:pPr marL="0" lvl="0" indent="0" algn="ctr">
              <a:lnSpc>
                <a:spcPts val="4790"/>
              </a:lnSpc>
            </a:pPr>
            <a:r>
              <a:rPr lang="en-US" sz="3742" spc="-179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체인룰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87085" y="5729868"/>
            <a:ext cx="4201491" cy="1200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90"/>
              </a:lnSpc>
            </a:pPr>
            <a:r>
              <a:rPr lang="en-US" sz="3742" spc="-179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자동 미분</a:t>
            </a:r>
          </a:p>
          <a:p>
            <a:pPr marL="0" lvl="0" indent="0" algn="ctr">
              <a:lnSpc>
                <a:spcPts val="4790"/>
              </a:lnSpc>
            </a:pPr>
            <a:r>
              <a:rPr lang="en-US" sz="3742" spc="-179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(Autograd)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78387" y="7529481"/>
            <a:ext cx="3524635" cy="425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27"/>
              </a:lnSpc>
            </a:pPr>
            <a:r>
              <a:rPr lang="en-US" sz="2377" spc="-187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∂L/∂w = ∂L/∂y · ∂y/∂w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08959" y="7529481"/>
            <a:ext cx="3557743" cy="425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27"/>
              </a:lnSpc>
            </a:pPr>
            <a:r>
              <a:rPr lang="en-US" sz="2377" spc="-187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PyTorch / TensorFlow 지원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095094" y="7373954"/>
            <a:ext cx="370792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10112021" y="7373954"/>
            <a:ext cx="370792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66186" y="5953657"/>
            <a:ext cx="4109279" cy="3086100"/>
            <a:chOff x="0" y="0"/>
            <a:chExt cx="1082279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2279" cy="812800"/>
            </a:xfrm>
            <a:custGeom>
              <a:avLst/>
              <a:gdLst/>
              <a:ahLst/>
              <a:cxnLst/>
              <a:rect l="l" t="t" r="r" b="b"/>
              <a:pathLst>
                <a:path w="1082279" h="812800">
                  <a:moveTo>
                    <a:pt x="30144" y="0"/>
                  </a:moveTo>
                  <a:lnTo>
                    <a:pt x="1052135" y="0"/>
                  </a:lnTo>
                  <a:cubicBezTo>
                    <a:pt x="1068783" y="0"/>
                    <a:pt x="1082279" y="13496"/>
                    <a:pt x="1082279" y="30144"/>
                  </a:cubicBezTo>
                  <a:lnTo>
                    <a:pt x="1082279" y="782656"/>
                  </a:lnTo>
                  <a:cubicBezTo>
                    <a:pt x="1082279" y="790651"/>
                    <a:pt x="1079103" y="798318"/>
                    <a:pt x="1073450" y="803971"/>
                  </a:cubicBezTo>
                  <a:cubicBezTo>
                    <a:pt x="1067797" y="809624"/>
                    <a:pt x="1060130" y="812800"/>
                    <a:pt x="1052135" y="812800"/>
                  </a:cubicBezTo>
                  <a:lnTo>
                    <a:pt x="30144" y="812800"/>
                  </a:lnTo>
                  <a:cubicBezTo>
                    <a:pt x="22149" y="812800"/>
                    <a:pt x="14482" y="809624"/>
                    <a:pt x="8829" y="803971"/>
                  </a:cubicBezTo>
                  <a:cubicBezTo>
                    <a:pt x="3176" y="798318"/>
                    <a:pt x="0" y="790651"/>
                    <a:pt x="0" y="782656"/>
                  </a:cubicBezTo>
                  <a:lnTo>
                    <a:pt x="0" y="30144"/>
                  </a:lnTo>
                  <a:cubicBezTo>
                    <a:pt x="0" y="22149"/>
                    <a:pt x="3176" y="14482"/>
                    <a:pt x="8829" y="8829"/>
                  </a:cubicBezTo>
                  <a:cubicBezTo>
                    <a:pt x="14482" y="3176"/>
                    <a:pt x="22149" y="0"/>
                    <a:pt x="30144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82279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192014" y="5953657"/>
            <a:ext cx="4109279" cy="3086100"/>
            <a:chOff x="0" y="0"/>
            <a:chExt cx="1082279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2279" cy="812800"/>
            </a:xfrm>
            <a:custGeom>
              <a:avLst/>
              <a:gdLst/>
              <a:ahLst/>
              <a:cxnLst/>
              <a:rect l="l" t="t" r="r" b="b"/>
              <a:pathLst>
                <a:path w="1082279" h="812800">
                  <a:moveTo>
                    <a:pt x="30144" y="0"/>
                  </a:moveTo>
                  <a:lnTo>
                    <a:pt x="1052135" y="0"/>
                  </a:lnTo>
                  <a:cubicBezTo>
                    <a:pt x="1068783" y="0"/>
                    <a:pt x="1082279" y="13496"/>
                    <a:pt x="1082279" y="30144"/>
                  </a:cubicBezTo>
                  <a:lnTo>
                    <a:pt x="1082279" y="782656"/>
                  </a:lnTo>
                  <a:cubicBezTo>
                    <a:pt x="1082279" y="790651"/>
                    <a:pt x="1079103" y="798318"/>
                    <a:pt x="1073450" y="803971"/>
                  </a:cubicBezTo>
                  <a:cubicBezTo>
                    <a:pt x="1067797" y="809624"/>
                    <a:pt x="1060130" y="812800"/>
                    <a:pt x="1052135" y="812800"/>
                  </a:cubicBezTo>
                  <a:lnTo>
                    <a:pt x="30144" y="812800"/>
                  </a:lnTo>
                  <a:cubicBezTo>
                    <a:pt x="22149" y="812800"/>
                    <a:pt x="14482" y="809624"/>
                    <a:pt x="8829" y="803971"/>
                  </a:cubicBezTo>
                  <a:cubicBezTo>
                    <a:pt x="3176" y="798318"/>
                    <a:pt x="0" y="790651"/>
                    <a:pt x="0" y="782656"/>
                  </a:cubicBezTo>
                  <a:lnTo>
                    <a:pt x="0" y="30144"/>
                  </a:lnTo>
                  <a:cubicBezTo>
                    <a:pt x="0" y="22149"/>
                    <a:pt x="3176" y="14482"/>
                    <a:pt x="8829" y="8829"/>
                  </a:cubicBezTo>
                  <a:cubicBezTo>
                    <a:pt x="14482" y="3176"/>
                    <a:pt x="22149" y="0"/>
                    <a:pt x="30144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82279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320467" y="5953657"/>
            <a:ext cx="4109279" cy="3086100"/>
            <a:chOff x="0" y="0"/>
            <a:chExt cx="1082279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82279" cy="812800"/>
            </a:xfrm>
            <a:custGeom>
              <a:avLst/>
              <a:gdLst/>
              <a:ahLst/>
              <a:cxnLst/>
              <a:rect l="l" t="t" r="r" b="b"/>
              <a:pathLst>
                <a:path w="1082279" h="812800">
                  <a:moveTo>
                    <a:pt x="30144" y="0"/>
                  </a:moveTo>
                  <a:lnTo>
                    <a:pt x="1052135" y="0"/>
                  </a:lnTo>
                  <a:cubicBezTo>
                    <a:pt x="1068783" y="0"/>
                    <a:pt x="1082279" y="13496"/>
                    <a:pt x="1082279" y="30144"/>
                  </a:cubicBezTo>
                  <a:lnTo>
                    <a:pt x="1082279" y="782656"/>
                  </a:lnTo>
                  <a:cubicBezTo>
                    <a:pt x="1082279" y="790651"/>
                    <a:pt x="1079103" y="798318"/>
                    <a:pt x="1073450" y="803971"/>
                  </a:cubicBezTo>
                  <a:cubicBezTo>
                    <a:pt x="1067797" y="809624"/>
                    <a:pt x="1060130" y="812800"/>
                    <a:pt x="1052135" y="812800"/>
                  </a:cubicBezTo>
                  <a:lnTo>
                    <a:pt x="30144" y="812800"/>
                  </a:lnTo>
                  <a:cubicBezTo>
                    <a:pt x="22149" y="812800"/>
                    <a:pt x="14482" y="809624"/>
                    <a:pt x="8829" y="803971"/>
                  </a:cubicBezTo>
                  <a:cubicBezTo>
                    <a:pt x="3176" y="798318"/>
                    <a:pt x="0" y="790651"/>
                    <a:pt x="0" y="782656"/>
                  </a:cubicBezTo>
                  <a:lnTo>
                    <a:pt x="0" y="30144"/>
                  </a:lnTo>
                  <a:cubicBezTo>
                    <a:pt x="0" y="22149"/>
                    <a:pt x="3176" y="14482"/>
                    <a:pt x="8829" y="8829"/>
                  </a:cubicBezTo>
                  <a:cubicBezTo>
                    <a:pt x="14482" y="3176"/>
                    <a:pt x="22149" y="0"/>
                    <a:pt x="30144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82279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20259" y="3438526"/>
            <a:ext cx="8647482" cy="60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딥러닝 프레임워크는 모델 설계·학습·배포를 지원하는 핵심 도구입니다.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각 프레임워크는 목적과 생태계가 다르며, 본 강의는 PyTorch 중심으로 실습을 진행합니다.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07677" y="7782981"/>
            <a:ext cx="3839881" cy="90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교육·연구 친화적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직관적 디버깅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동적 계산 그래프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13636" y="7782981"/>
            <a:ext cx="3839881" cy="90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제품·배포 생태계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TFLite·TF Serving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산업 현장 활용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49397" y="7782981"/>
            <a:ext cx="3839881" cy="90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PyTorch 중심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실습 코드 제공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입문자 최적화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24549" y="2168888"/>
            <a:ext cx="7038901" cy="632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</a:pPr>
            <a:r>
              <a:rPr lang="en-US" sz="4298" spc="-206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도구 선택이 학습 효율을 결정한다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27199" y="6697948"/>
            <a:ext cx="3820359" cy="5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PyTorch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13291" y="6697948"/>
            <a:ext cx="3820359" cy="5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TensorFlow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49052" y="6697948"/>
            <a:ext cx="3820359" cy="5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본 강의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45273" y="952453"/>
            <a:ext cx="3914027" cy="16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139"/>
              </a:lnSpc>
            </a:pPr>
            <a:r>
              <a:rPr lang="en-US" sz="1200" spc="-58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입문 — 노희민(정답풀이)</a:t>
            </a:r>
          </a:p>
        </p:txBody>
      </p:sp>
      <p:sp>
        <p:nvSpPr>
          <p:cNvPr id="23" name="AutoShape 23"/>
          <p:cNvSpPr/>
          <p:nvPr/>
        </p:nvSpPr>
        <p:spPr>
          <a:xfrm>
            <a:off x="2378429" y="7477657"/>
            <a:ext cx="350239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7504257" y="7477657"/>
            <a:ext cx="350239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12640018" y="7477657"/>
            <a:ext cx="350239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/>
          <p:cNvSpPr txBox="1"/>
          <p:nvPr/>
        </p:nvSpPr>
        <p:spPr>
          <a:xfrm>
            <a:off x="1091854" y="787708"/>
            <a:ext cx="6921360" cy="622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spc="-176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딥러닝 프레임워크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3493" y="4984560"/>
            <a:ext cx="7130683" cy="1850143"/>
            <a:chOff x="0" y="0"/>
            <a:chExt cx="1878040" cy="4872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8040" cy="487281"/>
            </a:xfrm>
            <a:custGeom>
              <a:avLst/>
              <a:gdLst/>
              <a:ahLst/>
              <a:cxnLst/>
              <a:rect l="l" t="t" r="r" b="b"/>
              <a:pathLst>
                <a:path w="1878040" h="487281">
                  <a:moveTo>
                    <a:pt x="0" y="0"/>
                  </a:moveTo>
                  <a:lnTo>
                    <a:pt x="1878040" y="0"/>
                  </a:lnTo>
                  <a:lnTo>
                    <a:pt x="1878040" y="487281"/>
                  </a:lnTo>
                  <a:lnTo>
                    <a:pt x="0" y="487281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78040" cy="52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53493" y="7189857"/>
            <a:ext cx="7130683" cy="1850143"/>
            <a:chOff x="0" y="0"/>
            <a:chExt cx="1878040" cy="487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78040" cy="487281"/>
            </a:xfrm>
            <a:custGeom>
              <a:avLst/>
              <a:gdLst/>
              <a:ahLst/>
              <a:cxnLst/>
              <a:rect l="l" t="t" r="r" b="b"/>
              <a:pathLst>
                <a:path w="1878040" h="487281">
                  <a:moveTo>
                    <a:pt x="0" y="0"/>
                  </a:moveTo>
                  <a:lnTo>
                    <a:pt x="1878040" y="0"/>
                  </a:lnTo>
                  <a:lnTo>
                    <a:pt x="1878040" y="487281"/>
                  </a:lnTo>
                  <a:lnTo>
                    <a:pt x="0" y="487281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78040" cy="52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03824" y="4984560"/>
            <a:ext cx="7130683" cy="1850143"/>
            <a:chOff x="0" y="0"/>
            <a:chExt cx="1878040" cy="4872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78040" cy="487281"/>
            </a:xfrm>
            <a:custGeom>
              <a:avLst/>
              <a:gdLst/>
              <a:ahLst/>
              <a:cxnLst/>
              <a:rect l="l" t="t" r="r" b="b"/>
              <a:pathLst>
                <a:path w="1878040" h="487281">
                  <a:moveTo>
                    <a:pt x="0" y="0"/>
                  </a:moveTo>
                  <a:lnTo>
                    <a:pt x="1878040" y="0"/>
                  </a:lnTo>
                  <a:lnTo>
                    <a:pt x="1878040" y="487281"/>
                  </a:lnTo>
                  <a:lnTo>
                    <a:pt x="0" y="487281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78040" cy="52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03824" y="7189857"/>
            <a:ext cx="7130683" cy="1850143"/>
            <a:chOff x="0" y="0"/>
            <a:chExt cx="1878040" cy="4872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78040" cy="487281"/>
            </a:xfrm>
            <a:custGeom>
              <a:avLst/>
              <a:gdLst/>
              <a:ahLst/>
              <a:cxnLst/>
              <a:rect l="l" t="t" r="r" b="b"/>
              <a:pathLst>
                <a:path w="1878040" h="487281">
                  <a:moveTo>
                    <a:pt x="0" y="0"/>
                  </a:moveTo>
                  <a:lnTo>
                    <a:pt x="1878040" y="0"/>
                  </a:lnTo>
                  <a:lnTo>
                    <a:pt x="1878040" y="487281"/>
                  </a:lnTo>
                  <a:lnTo>
                    <a:pt x="0" y="487281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78040" cy="52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207361" y="5583704"/>
            <a:ext cx="3373279" cy="387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30"/>
              </a:lnSpc>
            </a:pPr>
            <a:r>
              <a:rPr lang="en-US" sz="2504" b="1" spc="-52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Dataset &amp; DataLoader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07361" y="7789002"/>
            <a:ext cx="3373279" cy="387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30"/>
              </a:lnSpc>
            </a:pPr>
            <a:r>
              <a:rPr lang="en-US" sz="2504" b="1" spc="-235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손실 함수 &amp; 옵티마이저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57691" y="5583704"/>
            <a:ext cx="3373279" cy="387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30"/>
              </a:lnSpc>
            </a:pPr>
            <a:r>
              <a:rPr lang="en-US" sz="2504" b="1" spc="-52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nn.Module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57691" y="7789002"/>
            <a:ext cx="3860034" cy="387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30"/>
              </a:lnSpc>
            </a:pPr>
            <a:r>
              <a:rPr lang="en-US" sz="2504" b="1" spc="-260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학습 루프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29647" y="5570541"/>
            <a:ext cx="2825698" cy="75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데이터를 배치 단위로 불러오는 구조. Dataset으로 정의하고 DataLoader로 순회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29647" y="7775839"/>
            <a:ext cx="2825698" cy="75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손실 함수(MSE, CrossEntropy)로 오차 계산, 옵티마이저(SGD, Adam)로 파라미터 갱신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79977" y="5570541"/>
            <a:ext cx="2825698" cy="75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모델 구조 정의 클래스. __init__에서 레이어 선언, forward에서 연산 흐름 구현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79977" y="7775839"/>
            <a:ext cx="2825698" cy="75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forward → loss → backward → optimizer.step() 반복. 에포크마다 손실 감소 확인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345273" y="952453"/>
            <a:ext cx="3914027" cy="16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139"/>
              </a:lnSpc>
            </a:pPr>
            <a:r>
              <a:rPr lang="en-US" sz="1200" spc="-58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노희민(정답풀이) 자기소개 프레젠테이션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95094" y="3438526"/>
            <a:ext cx="10097813" cy="60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딥러닝 모델 학습의 4가지 핵심 구성 요소를 이해하면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PyTorch 코드의 전체 흐름이 보입니다.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4549" y="2249651"/>
            <a:ext cx="7038901" cy="461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34"/>
              </a:lnSpc>
            </a:pPr>
            <a:r>
              <a:rPr lang="en-US" sz="3100" spc="-148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PyTorch 학습 코드의 뼈대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1854" y="816283"/>
            <a:ext cx="6921360" cy="374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5"/>
              </a:lnSpc>
            </a:pPr>
            <a:r>
              <a:rPr lang="en-US" sz="2146" spc="-105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한국폴리텍대학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45273" y="952453"/>
            <a:ext cx="3914027" cy="19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24"/>
              </a:lnSpc>
            </a:pPr>
            <a:r>
              <a:rPr lang="en-US" sz="1498" spc="-73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(입문) 19 / 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1854" y="787708"/>
            <a:ext cx="6921360" cy="565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35"/>
              </a:lnSpc>
            </a:pPr>
            <a:r>
              <a:rPr lang="en-US" sz="3239" spc="-158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간단 예시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95094" y="3130988"/>
            <a:ext cx="10097813" cy="77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가장 단순한 지도학습 모델로, 입력 x에서 연속적인 출력 y를 예측합니다.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가중치 w와 편향 b를 학습하여 데이터에 가장 잘 맞는 직선을 찾습니다.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24549" y="2138861"/>
            <a:ext cx="7038901" cy="69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34"/>
              </a:lnSpc>
            </a:pPr>
            <a:r>
              <a:rPr lang="en-US" sz="4679" spc="-224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선형회귀(Linear Regression)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515858" y="4208606"/>
            <a:ext cx="5049694" cy="504969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62984" y="4208606"/>
            <a:ext cx="5049694" cy="504969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939960" y="5554107"/>
            <a:ext cx="4201491" cy="154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04"/>
              </a:lnSpc>
            </a:pPr>
            <a:r>
              <a:rPr lang="en-US" sz="4769" spc="-228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예측 공식</a:t>
            </a:r>
          </a:p>
          <a:p>
            <a:pPr marL="0" lvl="0" indent="0" algn="ctr">
              <a:lnSpc>
                <a:spcPts val="6104"/>
              </a:lnSpc>
            </a:pPr>
            <a:r>
              <a:rPr lang="en-US" sz="4769" spc="-228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y = wx + 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87085" y="5554107"/>
            <a:ext cx="4201491" cy="154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04"/>
              </a:lnSpc>
            </a:pPr>
            <a:r>
              <a:rPr lang="en-US" sz="4769" spc="-228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손실 함수</a:t>
            </a:r>
          </a:p>
          <a:p>
            <a:pPr marL="0" lvl="0" indent="0" algn="ctr">
              <a:lnSpc>
                <a:spcPts val="6104"/>
              </a:lnSpc>
            </a:pPr>
            <a:r>
              <a:rPr lang="en-US" sz="4769" spc="-228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MSE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78387" y="7519956"/>
            <a:ext cx="3524635" cy="55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6"/>
              </a:lnSpc>
            </a:pPr>
            <a:r>
              <a:rPr lang="en-US" sz="3197" spc="-252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w: 가중치 / b: 편향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08959" y="7519956"/>
            <a:ext cx="3557743" cy="55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6"/>
              </a:lnSpc>
            </a:pPr>
            <a:r>
              <a:rPr lang="en-US" sz="3197" spc="-252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평균제곱오차 최소화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095094" y="7373954"/>
            <a:ext cx="370792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10112021" y="7373954"/>
            <a:ext cx="370792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45273" y="952453"/>
            <a:ext cx="3914027" cy="19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24"/>
              </a:lnSpc>
            </a:pPr>
            <a:r>
              <a:rPr lang="en-US" sz="1498" spc="-73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(입문) | 20 / 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1854" y="787708"/>
            <a:ext cx="6921360" cy="622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spc="-176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분류 모델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95094" y="3130988"/>
            <a:ext cx="10097813" cy="77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분류 문제는 입력 데이터를 두 개 이상의 클래스 중 하나로 예측하는 과제입니다.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로지스틱 회귀와 소프트맥스로 확률을 출력하고, 크로스 엔트로피 손실로 학습합니다.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24549" y="2103553"/>
            <a:ext cx="7038901" cy="76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23"/>
              </a:lnSpc>
            </a:pPr>
            <a:r>
              <a:rPr lang="en-US" sz="5196" spc="-249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간단 예시: 분류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515858" y="4208606"/>
            <a:ext cx="5049694" cy="504969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62984" y="4208606"/>
            <a:ext cx="5049694" cy="504969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939960" y="5471060"/>
            <a:ext cx="4201491" cy="170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79"/>
              </a:lnSpc>
            </a:pPr>
            <a:r>
              <a:rPr lang="en-US" sz="5296" spc="-254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로지스틱 회귀</a:t>
            </a:r>
          </a:p>
          <a:p>
            <a:pPr marL="0" lvl="0" indent="0" algn="ctr">
              <a:lnSpc>
                <a:spcPts val="6779"/>
              </a:lnSpc>
            </a:pPr>
            <a:r>
              <a:rPr lang="en-US" sz="5296" spc="-254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&amp; 소프트맥스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87085" y="5471060"/>
            <a:ext cx="4201491" cy="170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79"/>
              </a:lnSpc>
            </a:pPr>
            <a:r>
              <a:rPr lang="en-US" sz="5296" spc="-254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손실 함수</a:t>
            </a:r>
          </a:p>
          <a:p>
            <a:pPr marL="0" lvl="0" indent="0" algn="ctr">
              <a:lnSpc>
                <a:spcPts val="6779"/>
              </a:lnSpc>
            </a:pPr>
            <a:r>
              <a:rPr lang="en-US" sz="5296" spc="-254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크로스 엔트로피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78387" y="7529481"/>
            <a:ext cx="3524635" cy="42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1"/>
              </a:lnSpc>
            </a:pPr>
            <a:r>
              <a:rPr lang="en-US" sz="2393" spc="-18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이진·다중 클래스 확률 출력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08959" y="7529481"/>
            <a:ext cx="3557743" cy="42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1"/>
              </a:lnSpc>
            </a:pPr>
            <a:r>
              <a:rPr lang="en-US" sz="2393" spc="-18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예측 확률 vs 정답 차이 최소화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095094" y="7373954"/>
            <a:ext cx="370792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10112021" y="7373954"/>
            <a:ext cx="370792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53493" y="4984560"/>
            <a:ext cx="5908829" cy="1144845"/>
            <a:chOff x="0" y="0"/>
            <a:chExt cx="1556235" cy="3015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53493" y="6365354"/>
            <a:ext cx="5908829" cy="1144845"/>
            <a:chOff x="0" y="0"/>
            <a:chExt cx="1556235" cy="3015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53493" y="7748324"/>
            <a:ext cx="5908829" cy="1144845"/>
            <a:chOff x="0" y="0"/>
            <a:chExt cx="1556235" cy="30152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684618" y="4983472"/>
            <a:ext cx="5908829" cy="1144845"/>
            <a:chOff x="0" y="0"/>
            <a:chExt cx="1556235" cy="3015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solidFill>
              <a:srgbClr val="00C4CC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684618" y="6364266"/>
            <a:ext cx="5908829" cy="1144845"/>
            <a:chOff x="0" y="0"/>
            <a:chExt cx="1556235" cy="3015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solidFill>
              <a:srgbClr val="00C4CC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684618" y="7747237"/>
            <a:ext cx="5908829" cy="1144845"/>
            <a:chOff x="0" y="0"/>
            <a:chExt cx="1556235" cy="3015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solidFill>
              <a:srgbClr val="00C4CC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7680420" y="6179343"/>
            <a:ext cx="3086100" cy="1519043"/>
            <a:chOff x="0" y="0"/>
            <a:chExt cx="812800" cy="40007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400077"/>
            </a:xfrm>
            <a:custGeom>
              <a:avLst/>
              <a:gdLst/>
              <a:ahLst/>
              <a:cxnLst/>
              <a:rect l="l" t="t" r="r" b="b"/>
              <a:pathLst>
                <a:path w="812800" h="400077">
                  <a:moveTo>
                    <a:pt x="406400" y="0"/>
                  </a:moveTo>
                  <a:lnTo>
                    <a:pt x="812800" y="400077"/>
                  </a:lnTo>
                  <a:lnTo>
                    <a:pt x="0" y="400077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27000" y="147650"/>
              <a:ext cx="558800" cy="223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345273" y="952453"/>
            <a:ext cx="3914027" cy="19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24"/>
              </a:lnSpc>
            </a:pPr>
            <a:r>
              <a:rPr lang="en-US" sz="1498" spc="-73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입문 강의 슬라이드 21/30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95094" y="3130988"/>
            <a:ext cx="10097813" cy="77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이미지의 공간 구조를 그대로 활용하여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완전 연결(FC) 대비 효율적으로 특징을 추출합니다.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24549" y="2103553"/>
            <a:ext cx="7038901" cy="76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23"/>
              </a:lnSpc>
            </a:pPr>
            <a:r>
              <a:rPr lang="en-US" sz="5196" spc="-249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CNN은 왜 등장했는가?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13983" y="5231055"/>
            <a:ext cx="4525017" cy="632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972"/>
              </a:lnSpc>
            </a:pPr>
            <a:r>
              <a:rPr lang="en-US" sz="4109" b="1" spc="-86" dirty="0" err="1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이미지</a:t>
            </a:r>
            <a:r>
              <a:rPr lang="en-US" sz="4109" b="1" spc="-86" dirty="0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 = </a:t>
            </a:r>
            <a:r>
              <a:rPr lang="en-US" sz="4109" b="1" spc="-86" dirty="0" err="1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픽셀</a:t>
            </a:r>
            <a:r>
              <a:rPr lang="en-US" sz="4109" b="1" spc="-86" dirty="0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 </a:t>
            </a:r>
            <a:r>
              <a:rPr lang="en-US" sz="4109" b="1" spc="-86" dirty="0" err="1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격자</a:t>
            </a:r>
            <a:endParaRPr lang="en-US" sz="4109" b="1" spc="-86" dirty="0">
              <a:solidFill>
                <a:srgbClr val="00C4CC"/>
              </a:solidFill>
              <a:latin typeface="Tlab 모던라이프 Medium"/>
              <a:ea typeface="Tlab 모던라이프 Medium"/>
              <a:cs typeface="Tlab 모던라이프 Medium"/>
              <a:sym typeface="Tlab 모던라이프 Medium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545108" y="5229968"/>
            <a:ext cx="4187849" cy="632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72"/>
              </a:lnSpc>
            </a:pPr>
            <a:r>
              <a:rPr lang="en-US" sz="4109" b="1" spc="-86">
                <a:solidFill>
                  <a:srgbClr val="FFFFFF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공간 구조 무시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21268" y="6612938"/>
            <a:ext cx="3373279" cy="632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72"/>
              </a:lnSpc>
            </a:pPr>
            <a:r>
              <a:rPr lang="en-US" sz="4109" b="1" spc="-86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완전 연결(FC)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952393" y="6611850"/>
            <a:ext cx="3373279" cy="632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72"/>
              </a:lnSpc>
            </a:pPr>
            <a:r>
              <a:rPr lang="en-US" sz="4109" b="1" spc="-86">
                <a:solidFill>
                  <a:srgbClr val="FFFFFF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파라미터 폭발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604712" y="7994820"/>
            <a:ext cx="4406392" cy="632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72"/>
              </a:lnSpc>
            </a:pPr>
            <a:r>
              <a:rPr lang="en-US" sz="4109" b="1" spc="-86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합성곱(CNN)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435837" y="7993732"/>
            <a:ext cx="4406392" cy="632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72"/>
              </a:lnSpc>
            </a:pPr>
            <a:r>
              <a:rPr lang="en-US" sz="4109" b="1" spc="-86">
                <a:solidFill>
                  <a:srgbClr val="FFFFFF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효율적 특징 추출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91854" y="787708"/>
            <a:ext cx="6921360" cy="622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spc="-176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컴퓨터비전 맛보기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66186" y="5953657"/>
            <a:ext cx="4109279" cy="3086100"/>
            <a:chOff x="0" y="0"/>
            <a:chExt cx="1082279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2279" cy="812800"/>
            </a:xfrm>
            <a:custGeom>
              <a:avLst/>
              <a:gdLst/>
              <a:ahLst/>
              <a:cxnLst/>
              <a:rect l="l" t="t" r="r" b="b"/>
              <a:pathLst>
                <a:path w="1082279" h="812800">
                  <a:moveTo>
                    <a:pt x="30144" y="0"/>
                  </a:moveTo>
                  <a:lnTo>
                    <a:pt x="1052135" y="0"/>
                  </a:lnTo>
                  <a:cubicBezTo>
                    <a:pt x="1068783" y="0"/>
                    <a:pt x="1082279" y="13496"/>
                    <a:pt x="1082279" y="30144"/>
                  </a:cubicBezTo>
                  <a:lnTo>
                    <a:pt x="1082279" y="782656"/>
                  </a:lnTo>
                  <a:cubicBezTo>
                    <a:pt x="1082279" y="790651"/>
                    <a:pt x="1079103" y="798318"/>
                    <a:pt x="1073450" y="803971"/>
                  </a:cubicBezTo>
                  <a:cubicBezTo>
                    <a:pt x="1067797" y="809624"/>
                    <a:pt x="1060130" y="812800"/>
                    <a:pt x="1052135" y="812800"/>
                  </a:cubicBezTo>
                  <a:lnTo>
                    <a:pt x="30144" y="812800"/>
                  </a:lnTo>
                  <a:cubicBezTo>
                    <a:pt x="22149" y="812800"/>
                    <a:pt x="14482" y="809624"/>
                    <a:pt x="8829" y="803971"/>
                  </a:cubicBezTo>
                  <a:cubicBezTo>
                    <a:pt x="3176" y="798318"/>
                    <a:pt x="0" y="790651"/>
                    <a:pt x="0" y="782656"/>
                  </a:cubicBezTo>
                  <a:lnTo>
                    <a:pt x="0" y="30144"/>
                  </a:lnTo>
                  <a:cubicBezTo>
                    <a:pt x="0" y="22149"/>
                    <a:pt x="3176" y="14482"/>
                    <a:pt x="8829" y="8829"/>
                  </a:cubicBezTo>
                  <a:cubicBezTo>
                    <a:pt x="14482" y="3176"/>
                    <a:pt x="22149" y="0"/>
                    <a:pt x="30144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82279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192014" y="5953657"/>
            <a:ext cx="4109279" cy="3086100"/>
            <a:chOff x="0" y="0"/>
            <a:chExt cx="1082279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2279" cy="812800"/>
            </a:xfrm>
            <a:custGeom>
              <a:avLst/>
              <a:gdLst/>
              <a:ahLst/>
              <a:cxnLst/>
              <a:rect l="l" t="t" r="r" b="b"/>
              <a:pathLst>
                <a:path w="1082279" h="812800">
                  <a:moveTo>
                    <a:pt x="30144" y="0"/>
                  </a:moveTo>
                  <a:lnTo>
                    <a:pt x="1052135" y="0"/>
                  </a:lnTo>
                  <a:cubicBezTo>
                    <a:pt x="1068783" y="0"/>
                    <a:pt x="1082279" y="13496"/>
                    <a:pt x="1082279" y="30144"/>
                  </a:cubicBezTo>
                  <a:lnTo>
                    <a:pt x="1082279" y="782656"/>
                  </a:lnTo>
                  <a:cubicBezTo>
                    <a:pt x="1082279" y="790651"/>
                    <a:pt x="1079103" y="798318"/>
                    <a:pt x="1073450" y="803971"/>
                  </a:cubicBezTo>
                  <a:cubicBezTo>
                    <a:pt x="1067797" y="809624"/>
                    <a:pt x="1060130" y="812800"/>
                    <a:pt x="1052135" y="812800"/>
                  </a:cubicBezTo>
                  <a:lnTo>
                    <a:pt x="30144" y="812800"/>
                  </a:lnTo>
                  <a:cubicBezTo>
                    <a:pt x="22149" y="812800"/>
                    <a:pt x="14482" y="809624"/>
                    <a:pt x="8829" y="803971"/>
                  </a:cubicBezTo>
                  <a:cubicBezTo>
                    <a:pt x="3176" y="798318"/>
                    <a:pt x="0" y="790651"/>
                    <a:pt x="0" y="782656"/>
                  </a:cubicBezTo>
                  <a:lnTo>
                    <a:pt x="0" y="30144"/>
                  </a:lnTo>
                  <a:cubicBezTo>
                    <a:pt x="0" y="22149"/>
                    <a:pt x="3176" y="14482"/>
                    <a:pt x="8829" y="8829"/>
                  </a:cubicBezTo>
                  <a:cubicBezTo>
                    <a:pt x="14482" y="3176"/>
                    <a:pt x="22149" y="0"/>
                    <a:pt x="30144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82279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320467" y="5953657"/>
            <a:ext cx="4109279" cy="3086100"/>
            <a:chOff x="0" y="0"/>
            <a:chExt cx="1082279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82279" cy="812800"/>
            </a:xfrm>
            <a:custGeom>
              <a:avLst/>
              <a:gdLst/>
              <a:ahLst/>
              <a:cxnLst/>
              <a:rect l="l" t="t" r="r" b="b"/>
              <a:pathLst>
                <a:path w="1082279" h="812800">
                  <a:moveTo>
                    <a:pt x="30144" y="0"/>
                  </a:moveTo>
                  <a:lnTo>
                    <a:pt x="1052135" y="0"/>
                  </a:lnTo>
                  <a:cubicBezTo>
                    <a:pt x="1068783" y="0"/>
                    <a:pt x="1082279" y="13496"/>
                    <a:pt x="1082279" y="30144"/>
                  </a:cubicBezTo>
                  <a:lnTo>
                    <a:pt x="1082279" y="782656"/>
                  </a:lnTo>
                  <a:cubicBezTo>
                    <a:pt x="1082279" y="790651"/>
                    <a:pt x="1079103" y="798318"/>
                    <a:pt x="1073450" y="803971"/>
                  </a:cubicBezTo>
                  <a:cubicBezTo>
                    <a:pt x="1067797" y="809624"/>
                    <a:pt x="1060130" y="812800"/>
                    <a:pt x="1052135" y="812800"/>
                  </a:cubicBezTo>
                  <a:lnTo>
                    <a:pt x="30144" y="812800"/>
                  </a:lnTo>
                  <a:cubicBezTo>
                    <a:pt x="22149" y="812800"/>
                    <a:pt x="14482" y="809624"/>
                    <a:pt x="8829" y="803971"/>
                  </a:cubicBezTo>
                  <a:cubicBezTo>
                    <a:pt x="3176" y="798318"/>
                    <a:pt x="0" y="790651"/>
                    <a:pt x="0" y="782656"/>
                  </a:cubicBezTo>
                  <a:lnTo>
                    <a:pt x="0" y="30144"/>
                  </a:lnTo>
                  <a:cubicBezTo>
                    <a:pt x="0" y="22149"/>
                    <a:pt x="3176" y="14482"/>
                    <a:pt x="8829" y="8829"/>
                  </a:cubicBezTo>
                  <a:cubicBezTo>
                    <a:pt x="14482" y="3176"/>
                    <a:pt x="22149" y="0"/>
                    <a:pt x="30144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82279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20259" y="3438526"/>
            <a:ext cx="8647482" cy="60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CNN(합성곱 신경망)은 이미지의 공간 구조를 보존하며 특징을 자동으로 추출합니다.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합성곱 → 풀링 → 특징 맵의 흐름으로 이미지를 점진적으로 추상화합니다.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07677" y="7782981"/>
            <a:ext cx="3839881" cy="90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필터(커널)를 슬라이딩하며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지역 패턴(엣지, 텍스처)을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자동으로 감지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13636" y="7782981"/>
            <a:ext cx="3839881" cy="90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공간 해상도를 줄여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계산량 감소 및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위치 불변성 확보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49397" y="7782981"/>
            <a:ext cx="3839881" cy="907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합성곱 결과로 생성된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채널별 활성화 지도;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층이 깊을수록 추상화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24549" y="2138861"/>
            <a:ext cx="7038901" cy="69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34"/>
              </a:lnSpc>
            </a:pPr>
            <a:r>
              <a:rPr lang="en-US" sz="4679" spc="-224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CNN을 이루는 핵심 블록 3가지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27199" y="6676050"/>
            <a:ext cx="3820359" cy="556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3"/>
              </a:lnSpc>
            </a:pPr>
            <a:r>
              <a:rPr lang="en-US" sz="1845" spc="-88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합성곱</a:t>
            </a:r>
          </a:p>
          <a:p>
            <a:pPr marL="0" lvl="0" indent="0" algn="ctr">
              <a:lnSpc>
                <a:spcPts val="2103"/>
              </a:lnSpc>
            </a:pPr>
            <a:r>
              <a:rPr lang="en-US" sz="1845" spc="-88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(Convolution)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13291" y="6676050"/>
            <a:ext cx="3820359" cy="556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3"/>
              </a:lnSpc>
            </a:pPr>
            <a:r>
              <a:rPr lang="en-US" sz="1845" spc="-88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풀링</a:t>
            </a:r>
          </a:p>
          <a:p>
            <a:pPr marL="0" lvl="0" indent="0" algn="ctr">
              <a:lnSpc>
                <a:spcPts val="2103"/>
              </a:lnSpc>
            </a:pPr>
            <a:r>
              <a:rPr lang="en-US" sz="1845" spc="-88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(Pooling)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49052" y="6676050"/>
            <a:ext cx="3820359" cy="556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3"/>
              </a:lnSpc>
            </a:pPr>
            <a:r>
              <a:rPr lang="en-US" sz="1845" spc="-88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특징 맵</a:t>
            </a:r>
          </a:p>
          <a:p>
            <a:pPr marL="0" lvl="0" indent="0" algn="ctr">
              <a:lnSpc>
                <a:spcPts val="2103"/>
              </a:lnSpc>
            </a:pPr>
            <a:r>
              <a:rPr lang="en-US" sz="1845" spc="-88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(Feature Map)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45273" y="952453"/>
            <a:ext cx="3914027" cy="16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139"/>
              </a:lnSpc>
            </a:pPr>
            <a:r>
              <a:rPr lang="en-US" sz="1200" spc="-58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(입문) | 노희민(정답풀이)</a:t>
            </a:r>
          </a:p>
        </p:txBody>
      </p:sp>
      <p:sp>
        <p:nvSpPr>
          <p:cNvPr id="23" name="AutoShape 23"/>
          <p:cNvSpPr/>
          <p:nvPr/>
        </p:nvSpPr>
        <p:spPr>
          <a:xfrm>
            <a:off x="2378429" y="7477657"/>
            <a:ext cx="350239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7504257" y="7477657"/>
            <a:ext cx="350239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12640018" y="7477657"/>
            <a:ext cx="350239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/>
          <p:cNvSpPr txBox="1"/>
          <p:nvPr/>
        </p:nvSpPr>
        <p:spPr>
          <a:xfrm>
            <a:off x="1091854" y="816283"/>
            <a:ext cx="6921360" cy="324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83"/>
              </a:lnSpc>
            </a:pPr>
            <a:r>
              <a:rPr lang="en-US" sz="1845" spc="-90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CNN 구성요소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45273" y="952453"/>
            <a:ext cx="3914027" cy="19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24"/>
              </a:lnSpc>
            </a:pPr>
            <a:r>
              <a:rPr lang="en-US" sz="1498" spc="-73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입문 강의 | 23 / 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1854" y="797233"/>
            <a:ext cx="6921360" cy="539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03"/>
              </a:lnSpc>
            </a:pPr>
            <a:r>
              <a:rPr lang="en-US" sz="3145" spc="-154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선택 사항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95094" y="3130988"/>
            <a:ext cx="10097813" cy="77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사전 학습된 모델을 재활용하면 적은 데이터로도 높은 성능을 달성할 수 있습니다.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실무에서 가장 빠르게 성과를 낼 수 있는 접근 방식으로 활용도가 높습니다.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24549" y="2158429"/>
            <a:ext cx="7038901" cy="663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79"/>
              </a:lnSpc>
            </a:pPr>
            <a:r>
              <a:rPr lang="en-US" sz="4543" spc="-218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전이학습 (Transfer Learning)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515858" y="4208606"/>
            <a:ext cx="5049694" cy="504969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62984" y="4208606"/>
            <a:ext cx="5049694" cy="504969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939960" y="5581978"/>
            <a:ext cx="4201491" cy="1496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27"/>
              </a:lnSpc>
            </a:pPr>
            <a:r>
              <a:rPr lang="en-US" sz="4630" spc="-222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적은 데이터로</a:t>
            </a:r>
          </a:p>
          <a:p>
            <a:pPr marL="0" lvl="0" indent="0" algn="ctr">
              <a:lnSpc>
                <a:spcPts val="5927"/>
              </a:lnSpc>
            </a:pPr>
            <a:r>
              <a:rPr lang="en-US" sz="4630" spc="-222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성능 확보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87085" y="5581978"/>
            <a:ext cx="4201491" cy="1496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27"/>
              </a:lnSpc>
            </a:pPr>
            <a:r>
              <a:rPr lang="en-US" sz="4630" spc="-222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실무</a:t>
            </a:r>
          </a:p>
          <a:p>
            <a:pPr marL="0" lvl="0" indent="0" algn="ctr">
              <a:lnSpc>
                <a:spcPts val="5927"/>
              </a:lnSpc>
            </a:pPr>
            <a:r>
              <a:rPr lang="en-US" sz="4630" spc="-222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활용도 증가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78387" y="7548531"/>
            <a:ext cx="3524635" cy="43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62"/>
              </a:lnSpc>
            </a:pPr>
            <a:r>
              <a:rPr lang="en-US" sz="2544" spc="-201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사전 학습 모델 Fine-tuning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08959" y="7548531"/>
            <a:ext cx="3557743" cy="43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62"/>
              </a:lnSpc>
            </a:pPr>
            <a:r>
              <a:rPr lang="en-US" sz="2544" spc="-201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ResNet · BERT · GPT 활용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095094" y="7373954"/>
            <a:ext cx="370792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10112021" y="7373954"/>
            <a:ext cx="370792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45273" y="952453"/>
            <a:ext cx="3914027" cy="19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24"/>
              </a:lnSpc>
            </a:pPr>
            <a:r>
              <a:rPr lang="en-US" sz="1498" spc="-73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입문 프레젠테이션 · 24 / 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1854" y="778183"/>
            <a:ext cx="6921360" cy="607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25"/>
              </a:lnSpc>
            </a:pPr>
            <a:r>
              <a:rPr lang="en-US" sz="3446" spc="-168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자연어처리 맛보기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95094" y="3130988"/>
            <a:ext cx="10097813" cy="77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텍스트를 숫자로 바꿔야 모델이 이해할 수 있습니다.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토큰화로 단어를 분리하고, 임베딩으로 의미를 벡터 공간에 표현합니다.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24549" y="2109145"/>
            <a:ext cx="7038901" cy="742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75"/>
              </a:lnSpc>
            </a:pPr>
            <a:r>
              <a:rPr lang="en-US" sz="4978" spc="-238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토큰과 임베딩: 텍스트 수치화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515858" y="4208606"/>
            <a:ext cx="5049694" cy="504969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62984" y="4208606"/>
            <a:ext cx="5049694" cy="504969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939960" y="5517558"/>
            <a:ext cx="4201491" cy="1624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95"/>
              </a:lnSpc>
            </a:pPr>
            <a:r>
              <a:rPr lang="en-US" sz="5074" spc="-243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토큰화</a:t>
            </a:r>
          </a:p>
          <a:p>
            <a:pPr marL="0" lvl="0" indent="0" algn="ctr">
              <a:lnSpc>
                <a:spcPts val="6495"/>
              </a:lnSpc>
            </a:pPr>
            <a:r>
              <a:rPr lang="en-US" sz="5074" spc="-243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(Tokenization)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87085" y="5517558"/>
            <a:ext cx="4201491" cy="1624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95"/>
              </a:lnSpc>
            </a:pPr>
            <a:r>
              <a:rPr lang="en-US" sz="5074" spc="-243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임베딩</a:t>
            </a:r>
          </a:p>
          <a:p>
            <a:pPr marL="0" lvl="0" indent="0" algn="ctr">
              <a:lnSpc>
                <a:spcPts val="6495"/>
              </a:lnSpc>
            </a:pPr>
            <a:r>
              <a:rPr lang="en-US" sz="5074" spc="-243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(Embedding)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78387" y="7558056"/>
            <a:ext cx="3524635" cy="355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99"/>
              </a:lnSpc>
            </a:pPr>
            <a:r>
              <a:rPr lang="en-US" sz="2142" spc="-16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문장 → 단어/서브워드 단위 분리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08959" y="7558056"/>
            <a:ext cx="3557743" cy="355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99"/>
              </a:lnSpc>
            </a:pPr>
            <a:r>
              <a:rPr lang="en-US" sz="2142" spc="-16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의미를 벡터 공간에 표현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095094" y="7373954"/>
            <a:ext cx="370792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10112021" y="7373954"/>
            <a:ext cx="370792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91854" y="787708"/>
            <a:ext cx="6921360" cy="622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spc="-176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CHAPTER 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45273" y="952453"/>
            <a:ext cx="3914027" cy="19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24"/>
              </a:lnSpc>
            </a:pPr>
            <a:r>
              <a:rPr lang="en-US" sz="1498" spc="-73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입문 | 25 / 30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14600" y="3429001"/>
            <a:ext cx="14020800" cy="3827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다음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토큰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예측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모델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·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사전학습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·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미세조정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·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정렬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(Alignment)  2019~2023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주요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언어모델</a:t>
            </a:r>
            <a:r>
              <a:rPr lang="en-US" sz="2200" spc="-173" dirty="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 </a:t>
            </a:r>
            <a:r>
              <a:rPr lang="en-US" sz="2200" spc="-173" dirty="0" err="1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타임라인</a:t>
            </a:r>
            <a:endParaRPr lang="en-US" sz="2200" spc="-173" dirty="0">
              <a:solidFill>
                <a:srgbClr val="2C2C2C"/>
              </a:solidFill>
              <a:latin typeface="Tlab 모던라이프 Light"/>
              <a:ea typeface="Tlab 모던라이프 Light"/>
              <a:cs typeface="Tlab 모던라이프 Light"/>
              <a:sym typeface="Tlab 모던라이프 Ligh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624549" y="1732078"/>
            <a:ext cx="7038901" cy="1506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23"/>
              </a:lnSpc>
            </a:pPr>
            <a:r>
              <a:rPr lang="en-US" sz="5196" spc="-249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생성형 AI와</a:t>
            </a:r>
          </a:p>
          <a:p>
            <a:pPr marL="0" lvl="0" indent="0" algn="ctr">
              <a:lnSpc>
                <a:spcPts val="5923"/>
              </a:lnSpc>
            </a:pPr>
            <a:r>
              <a:rPr lang="en-US" sz="5196" spc="-249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LLM</a:t>
            </a:r>
          </a:p>
        </p:txBody>
      </p:sp>
      <p:sp>
        <p:nvSpPr>
          <p:cNvPr id="9" name="Freeform 9"/>
          <p:cNvSpPr/>
          <p:nvPr/>
        </p:nvSpPr>
        <p:spPr>
          <a:xfrm>
            <a:off x="2856301" y="3811798"/>
            <a:ext cx="13337398" cy="6251905"/>
          </a:xfrm>
          <a:custGeom>
            <a:avLst/>
            <a:gdLst/>
            <a:ahLst/>
            <a:cxnLst/>
            <a:rect l="l" t="t" r="r" b="b"/>
            <a:pathLst>
              <a:path w="13337398" h="6251905">
                <a:moveTo>
                  <a:pt x="0" y="0"/>
                </a:moveTo>
                <a:lnTo>
                  <a:pt x="13337398" y="0"/>
                </a:lnTo>
                <a:lnTo>
                  <a:pt x="13337398" y="6251906"/>
                </a:lnTo>
                <a:lnTo>
                  <a:pt x="0" y="6251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91854" y="787708"/>
            <a:ext cx="6921360" cy="622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spc="-176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PROMPT ENGINEERING &amp; RAG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45273" y="952453"/>
            <a:ext cx="3914027" cy="19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24"/>
              </a:lnSpc>
            </a:pPr>
            <a:r>
              <a:rPr lang="en-US" sz="1498" spc="-73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입문 프레젠테이션 | 26 / 30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12974" y="3429001"/>
            <a:ext cx="9462051" cy="116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✅ 좋은 프롬프트 = 역할 + 목표 + 제약 + 샷(예시)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❌ 나쁜 프롬프트: "요약해줘" → ✅ 좋은 프롬프트: "3줄로 핵심만 요약해줘"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🔄 RAG: 외부 문서 검색 → 컨텍스트 주입 → LLM 응답 생성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24549" y="1732078"/>
            <a:ext cx="7038901" cy="1506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23"/>
              </a:lnSpc>
            </a:pPr>
            <a:r>
              <a:rPr lang="en-US" sz="5196" spc="-249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프롬프트 엔지니어링과</a:t>
            </a:r>
          </a:p>
          <a:p>
            <a:pPr marL="0" lvl="0" indent="0" algn="ctr">
              <a:lnSpc>
                <a:spcPts val="5923"/>
              </a:lnSpc>
            </a:pPr>
            <a:r>
              <a:rPr lang="en-US" sz="5196" spc="-249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RAG 프레임워크</a:t>
            </a:r>
          </a:p>
        </p:txBody>
      </p:sp>
      <p:sp>
        <p:nvSpPr>
          <p:cNvPr id="9" name="Freeform 9"/>
          <p:cNvSpPr/>
          <p:nvPr/>
        </p:nvSpPr>
        <p:spPr>
          <a:xfrm>
            <a:off x="4038600" y="4782787"/>
            <a:ext cx="11177013" cy="5345784"/>
          </a:xfrm>
          <a:custGeom>
            <a:avLst/>
            <a:gdLst/>
            <a:ahLst/>
            <a:cxnLst/>
            <a:rect l="l" t="t" r="r" b="b"/>
            <a:pathLst>
              <a:path w="11177013" h="6248566">
                <a:moveTo>
                  <a:pt x="0" y="0"/>
                </a:moveTo>
                <a:lnTo>
                  <a:pt x="11177013" y="0"/>
                </a:lnTo>
                <a:lnTo>
                  <a:pt x="11177013" y="6248567"/>
                </a:lnTo>
                <a:lnTo>
                  <a:pt x="0" y="6248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66186" y="5953657"/>
            <a:ext cx="4109279" cy="3086100"/>
            <a:chOff x="0" y="0"/>
            <a:chExt cx="1082279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2279" cy="812800"/>
            </a:xfrm>
            <a:custGeom>
              <a:avLst/>
              <a:gdLst/>
              <a:ahLst/>
              <a:cxnLst/>
              <a:rect l="l" t="t" r="r" b="b"/>
              <a:pathLst>
                <a:path w="1082279" h="812800">
                  <a:moveTo>
                    <a:pt x="30144" y="0"/>
                  </a:moveTo>
                  <a:lnTo>
                    <a:pt x="1052135" y="0"/>
                  </a:lnTo>
                  <a:cubicBezTo>
                    <a:pt x="1068783" y="0"/>
                    <a:pt x="1082279" y="13496"/>
                    <a:pt x="1082279" y="30144"/>
                  </a:cubicBezTo>
                  <a:lnTo>
                    <a:pt x="1082279" y="782656"/>
                  </a:lnTo>
                  <a:cubicBezTo>
                    <a:pt x="1082279" y="790651"/>
                    <a:pt x="1079103" y="798318"/>
                    <a:pt x="1073450" y="803971"/>
                  </a:cubicBezTo>
                  <a:cubicBezTo>
                    <a:pt x="1067797" y="809624"/>
                    <a:pt x="1060130" y="812800"/>
                    <a:pt x="1052135" y="812800"/>
                  </a:cubicBezTo>
                  <a:lnTo>
                    <a:pt x="30144" y="812800"/>
                  </a:lnTo>
                  <a:cubicBezTo>
                    <a:pt x="22149" y="812800"/>
                    <a:pt x="14482" y="809624"/>
                    <a:pt x="8829" y="803971"/>
                  </a:cubicBezTo>
                  <a:cubicBezTo>
                    <a:pt x="3176" y="798318"/>
                    <a:pt x="0" y="790651"/>
                    <a:pt x="0" y="782656"/>
                  </a:cubicBezTo>
                  <a:lnTo>
                    <a:pt x="0" y="30144"/>
                  </a:lnTo>
                  <a:cubicBezTo>
                    <a:pt x="0" y="22149"/>
                    <a:pt x="3176" y="14482"/>
                    <a:pt x="8829" y="8829"/>
                  </a:cubicBezTo>
                  <a:cubicBezTo>
                    <a:pt x="14482" y="3176"/>
                    <a:pt x="22149" y="0"/>
                    <a:pt x="30144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82279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192014" y="5953657"/>
            <a:ext cx="4109279" cy="3086100"/>
            <a:chOff x="0" y="0"/>
            <a:chExt cx="1082279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2279" cy="812800"/>
            </a:xfrm>
            <a:custGeom>
              <a:avLst/>
              <a:gdLst/>
              <a:ahLst/>
              <a:cxnLst/>
              <a:rect l="l" t="t" r="r" b="b"/>
              <a:pathLst>
                <a:path w="1082279" h="812800">
                  <a:moveTo>
                    <a:pt x="30144" y="0"/>
                  </a:moveTo>
                  <a:lnTo>
                    <a:pt x="1052135" y="0"/>
                  </a:lnTo>
                  <a:cubicBezTo>
                    <a:pt x="1068783" y="0"/>
                    <a:pt x="1082279" y="13496"/>
                    <a:pt x="1082279" y="30144"/>
                  </a:cubicBezTo>
                  <a:lnTo>
                    <a:pt x="1082279" y="782656"/>
                  </a:lnTo>
                  <a:cubicBezTo>
                    <a:pt x="1082279" y="790651"/>
                    <a:pt x="1079103" y="798318"/>
                    <a:pt x="1073450" y="803971"/>
                  </a:cubicBezTo>
                  <a:cubicBezTo>
                    <a:pt x="1067797" y="809624"/>
                    <a:pt x="1060130" y="812800"/>
                    <a:pt x="1052135" y="812800"/>
                  </a:cubicBezTo>
                  <a:lnTo>
                    <a:pt x="30144" y="812800"/>
                  </a:lnTo>
                  <a:cubicBezTo>
                    <a:pt x="22149" y="812800"/>
                    <a:pt x="14482" y="809624"/>
                    <a:pt x="8829" y="803971"/>
                  </a:cubicBezTo>
                  <a:cubicBezTo>
                    <a:pt x="3176" y="798318"/>
                    <a:pt x="0" y="790651"/>
                    <a:pt x="0" y="782656"/>
                  </a:cubicBezTo>
                  <a:lnTo>
                    <a:pt x="0" y="30144"/>
                  </a:lnTo>
                  <a:cubicBezTo>
                    <a:pt x="0" y="22149"/>
                    <a:pt x="3176" y="14482"/>
                    <a:pt x="8829" y="8829"/>
                  </a:cubicBezTo>
                  <a:cubicBezTo>
                    <a:pt x="14482" y="3176"/>
                    <a:pt x="22149" y="0"/>
                    <a:pt x="30144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82279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320467" y="5953657"/>
            <a:ext cx="4109279" cy="3086100"/>
            <a:chOff x="0" y="0"/>
            <a:chExt cx="1082279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82279" cy="812800"/>
            </a:xfrm>
            <a:custGeom>
              <a:avLst/>
              <a:gdLst/>
              <a:ahLst/>
              <a:cxnLst/>
              <a:rect l="l" t="t" r="r" b="b"/>
              <a:pathLst>
                <a:path w="1082279" h="812800">
                  <a:moveTo>
                    <a:pt x="30144" y="0"/>
                  </a:moveTo>
                  <a:lnTo>
                    <a:pt x="1052135" y="0"/>
                  </a:lnTo>
                  <a:cubicBezTo>
                    <a:pt x="1068783" y="0"/>
                    <a:pt x="1082279" y="13496"/>
                    <a:pt x="1082279" y="30144"/>
                  </a:cubicBezTo>
                  <a:lnTo>
                    <a:pt x="1082279" y="782656"/>
                  </a:lnTo>
                  <a:cubicBezTo>
                    <a:pt x="1082279" y="790651"/>
                    <a:pt x="1079103" y="798318"/>
                    <a:pt x="1073450" y="803971"/>
                  </a:cubicBezTo>
                  <a:cubicBezTo>
                    <a:pt x="1067797" y="809624"/>
                    <a:pt x="1060130" y="812800"/>
                    <a:pt x="1052135" y="812800"/>
                  </a:cubicBezTo>
                  <a:lnTo>
                    <a:pt x="30144" y="812800"/>
                  </a:lnTo>
                  <a:cubicBezTo>
                    <a:pt x="22149" y="812800"/>
                    <a:pt x="14482" y="809624"/>
                    <a:pt x="8829" y="803971"/>
                  </a:cubicBezTo>
                  <a:cubicBezTo>
                    <a:pt x="3176" y="798318"/>
                    <a:pt x="0" y="790651"/>
                    <a:pt x="0" y="782656"/>
                  </a:cubicBezTo>
                  <a:lnTo>
                    <a:pt x="0" y="30144"/>
                  </a:lnTo>
                  <a:cubicBezTo>
                    <a:pt x="0" y="22149"/>
                    <a:pt x="3176" y="14482"/>
                    <a:pt x="8829" y="8829"/>
                  </a:cubicBezTo>
                  <a:cubicBezTo>
                    <a:pt x="14482" y="3176"/>
                    <a:pt x="22149" y="0"/>
                    <a:pt x="30144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82279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20259" y="3438526"/>
            <a:ext cx="8647482" cy="60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ChatGPT는 강의 준비부터 코드 디버깅까지 다양한 교육·업무 현장에서 즉시 활용 가능합니다.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역할과 목표를 명확히 지정한 프롬프트로 결과물의 품질을 높일 수 있습니다.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07677" y="7782981"/>
            <a:ext cx="3839881" cy="60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강의 초안 작성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퀴즈·문제 자동 생성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13636" y="7782981"/>
            <a:ext cx="3839881" cy="60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문장 교정·개선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학습자 피드백 문구 정제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49397" y="7782981"/>
            <a:ext cx="3839881" cy="60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코드 설명 요청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FFFFFF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에러 원인 추정 및 수정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1692" y="2239504"/>
            <a:ext cx="7857698" cy="482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20"/>
              </a:lnSpc>
            </a:pPr>
            <a:r>
              <a:rPr lang="en-US" sz="3263" spc="-156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수업과 업무에 바로 쓰는 ChatGPT 실전 사례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27199" y="6798295"/>
            <a:ext cx="3820359" cy="331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75"/>
              </a:lnSpc>
            </a:pPr>
            <a:r>
              <a:rPr lang="en-US" sz="2259" spc="-108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강의자료 제작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13291" y="6798295"/>
            <a:ext cx="3820359" cy="331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75"/>
              </a:lnSpc>
            </a:pPr>
            <a:r>
              <a:rPr lang="en-US" sz="2259" spc="-108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피드백 다듬기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49052" y="6798295"/>
            <a:ext cx="3820359" cy="331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75"/>
              </a:lnSpc>
            </a:pPr>
            <a:r>
              <a:rPr lang="en-US" sz="2259" spc="-108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코드 보조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45273" y="952453"/>
            <a:ext cx="3914027" cy="16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139"/>
              </a:lnSpc>
            </a:pPr>
            <a:r>
              <a:rPr lang="en-US" sz="1200" spc="-58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(입문) | 27</a:t>
            </a:r>
          </a:p>
        </p:txBody>
      </p:sp>
      <p:sp>
        <p:nvSpPr>
          <p:cNvPr id="23" name="AutoShape 23"/>
          <p:cNvSpPr/>
          <p:nvPr/>
        </p:nvSpPr>
        <p:spPr>
          <a:xfrm>
            <a:off x="2378429" y="7477657"/>
            <a:ext cx="350239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7504257" y="7477657"/>
            <a:ext cx="350239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12640018" y="7477657"/>
            <a:ext cx="350239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/>
          <p:cNvSpPr txBox="1"/>
          <p:nvPr/>
        </p:nvSpPr>
        <p:spPr>
          <a:xfrm>
            <a:off x="1091854" y="816283"/>
            <a:ext cx="6921360" cy="390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63"/>
              </a:lnSpc>
            </a:pPr>
            <a:r>
              <a:rPr lang="en-US" sz="2259" spc="-110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CHATGPT 활용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53493" y="4984560"/>
            <a:ext cx="5908829" cy="1144845"/>
            <a:chOff x="0" y="0"/>
            <a:chExt cx="1556235" cy="3015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53493" y="6365354"/>
            <a:ext cx="5908829" cy="1144845"/>
            <a:chOff x="0" y="0"/>
            <a:chExt cx="1556235" cy="3015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53493" y="7748324"/>
            <a:ext cx="5908829" cy="1144845"/>
            <a:chOff x="0" y="0"/>
            <a:chExt cx="1556235" cy="30152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684618" y="4983472"/>
            <a:ext cx="5908829" cy="1144845"/>
            <a:chOff x="0" y="0"/>
            <a:chExt cx="1556235" cy="3015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solidFill>
              <a:srgbClr val="00C4CC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684618" y="6364266"/>
            <a:ext cx="5908829" cy="1144845"/>
            <a:chOff x="0" y="0"/>
            <a:chExt cx="1556235" cy="3015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solidFill>
              <a:srgbClr val="00C4CC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684618" y="7747237"/>
            <a:ext cx="5908829" cy="1144845"/>
            <a:chOff x="0" y="0"/>
            <a:chExt cx="1556235" cy="3015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56235" cy="301523"/>
            </a:xfrm>
            <a:custGeom>
              <a:avLst/>
              <a:gdLst/>
              <a:ahLst/>
              <a:cxnLst/>
              <a:rect l="l" t="t" r="r" b="b"/>
              <a:pathLst>
                <a:path w="1556235" h="301523">
                  <a:moveTo>
                    <a:pt x="0" y="0"/>
                  </a:moveTo>
                  <a:lnTo>
                    <a:pt x="1556235" y="0"/>
                  </a:lnTo>
                  <a:lnTo>
                    <a:pt x="1556235" y="301523"/>
                  </a:lnTo>
                  <a:lnTo>
                    <a:pt x="0" y="301523"/>
                  </a:lnTo>
                  <a:close/>
                </a:path>
              </a:pathLst>
            </a:custGeom>
            <a:solidFill>
              <a:srgbClr val="00C4CC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556235" cy="339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7680420" y="6179343"/>
            <a:ext cx="3086100" cy="1519043"/>
            <a:chOff x="0" y="0"/>
            <a:chExt cx="812800" cy="40007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400077"/>
            </a:xfrm>
            <a:custGeom>
              <a:avLst/>
              <a:gdLst/>
              <a:ahLst/>
              <a:cxnLst/>
              <a:rect l="l" t="t" r="r" b="b"/>
              <a:pathLst>
                <a:path w="812800" h="400077">
                  <a:moveTo>
                    <a:pt x="406400" y="0"/>
                  </a:moveTo>
                  <a:lnTo>
                    <a:pt x="812800" y="400077"/>
                  </a:lnTo>
                  <a:lnTo>
                    <a:pt x="0" y="400077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27000" y="147650"/>
              <a:ext cx="558800" cy="223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345273" y="952453"/>
            <a:ext cx="3914027" cy="19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24"/>
              </a:lnSpc>
            </a:pPr>
            <a:r>
              <a:rPr lang="en-US" sz="1498" spc="-73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28 / 30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95094" y="3130988"/>
            <a:ext cx="10097813" cy="77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AI를 올바르게 사용하기 위한 핵심 원칙을 이해합니다.</a:t>
            </a:r>
          </a:p>
          <a:p>
            <a:pPr marL="0" lvl="0" indent="0" algn="ctr">
              <a:lnSpc>
                <a:spcPts val="3080"/>
              </a:lnSpc>
            </a:pPr>
            <a:r>
              <a:rPr lang="en-US" sz="2200" spc="-173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사용자의 책임 있는 AI 활용이 중요합니다.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24549" y="2103553"/>
            <a:ext cx="7038901" cy="76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23"/>
              </a:lnSpc>
            </a:pPr>
            <a:r>
              <a:rPr lang="en-US" sz="5196" spc="-249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AI 윤리·저작권·개인정보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13983" y="5231055"/>
            <a:ext cx="4187849" cy="623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45"/>
              </a:lnSpc>
            </a:pPr>
            <a:r>
              <a:rPr lang="en-US" sz="4087" b="1" spc="-85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개인정보 보호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545108" y="5229968"/>
            <a:ext cx="4187849" cy="623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45"/>
              </a:lnSpc>
            </a:pPr>
            <a:r>
              <a:rPr lang="en-US" sz="4087" b="1" spc="-85">
                <a:solidFill>
                  <a:srgbClr val="FFFFFF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민감정보 입력 금지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21268" y="6612938"/>
            <a:ext cx="3373279" cy="623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45"/>
              </a:lnSpc>
            </a:pPr>
            <a:r>
              <a:rPr lang="en-US" sz="4087" b="1" spc="-85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저작권 확인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952393" y="6611850"/>
            <a:ext cx="3373279" cy="623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45"/>
              </a:lnSpc>
            </a:pPr>
            <a:r>
              <a:rPr lang="en-US" sz="4087" b="1" spc="-85">
                <a:solidFill>
                  <a:srgbClr val="FFFFFF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라이선스 준수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604712" y="7994820"/>
            <a:ext cx="4406392" cy="623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45"/>
              </a:lnSpc>
            </a:pPr>
            <a:r>
              <a:rPr lang="en-US" sz="4087" b="1" spc="-85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환각 검증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435837" y="7993732"/>
            <a:ext cx="4406392" cy="623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45"/>
              </a:lnSpc>
            </a:pPr>
            <a:r>
              <a:rPr lang="en-US" sz="4087" b="1" spc="-85">
                <a:solidFill>
                  <a:srgbClr val="FFFFFF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사실 교차 확인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91854" y="787708"/>
            <a:ext cx="6921360" cy="622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spc="-176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AI 윤리 &amp; 책임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3493" y="4984560"/>
            <a:ext cx="7130683" cy="1850143"/>
            <a:chOff x="0" y="0"/>
            <a:chExt cx="1878040" cy="4872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8040" cy="487281"/>
            </a:xfrm>
            <a:custGeom>
              <a:avLst/>
              <a:gdLst/>
              <a:ahLst/>
              <a:cxnLst/>
              <a:rect l="l" t="t" r="r" b="b"/>
              <a:pathLst>
                <a:path w="1878040" h="487281">
                  <a:moveTo>
                    <a:pt x="0" y="0"/>
                  </a:moveTo>
                  <a:lnTo>
                    <a:pt x="1878040" y="0"/>
                  </a:lnTo>
                  <a:lnTo>
                    <a:pt x="1878040" y="487281"/>
                  </a:lnTo>
                  <a:lnTo>
                    <a:pt x="0" y="487281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78040" cy="52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53493" y="7189857"/>
            <a:ext cx="7130683" cy="1850143"/>
            <a:chOff x="0" y="0"/>
            <a:chExt cx="1878040" cy="487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78040" cy="487281"/>
            </a:xfrm>
            <a:custGeom>
              <a:avLst/>
              <a:gdLst/>
              <a:ahLst/>
              <a:cxnLst/>
              <a:rect l="l" t="t" r="r" b="b"/>
              <a:pathLst>
                <a:path w="1878040" h="487281">
                  <a:moveTo>
                    <a:pt x="0" y="0"/>
                  </a:moveTo>
                  <a:lnTo>
                    <a:pt x="1878040" y="0"/>
                  </a:lnTo>
                  <a:lnTo>
                    <a:pt x="1878040" y="487281"/>
                  </a:lnTo>
                  <a:lnTo>
                    <a:pt x="0" y="487281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78040" cy="52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03824" y="4984560"/>
            <a:ext cx="7130683" cy="1850143"/>
            <a:chOff x="0" y="0"/>
            <a:chExt cx="1878040" cy="4872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78040" cy="487281"/>
            </a:xfrm>
            <a:custGeom>
              <a:avLst/>
              <a:gdLst/>
              <a:ahLst/>
              <a:cxnLst/>
              <a:rect l="l" t="t" r="r" b="b"/>
              <a:pathLst>
                <a:path w="1878040" h="487281">
                  <a:moveTo>
                    <a:pt x="0" y="0"/>
                  </a:moveTo>
                  <a:lnTo>
                    <a:pt x="1878040" y="0"/>
                  </a:lnTo>
                  <a:lnTo>
                    <a:pt x="1878040" y="487281"/>
                  </a:lnTo>
                  <a:lnTo>
                    <a:pt x="0" y="487281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78040" cy="52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03824" y="7189857"/>
            <a:ext cx="7130683" cy="1850143"/>
            <a:chOff x="0" y="0"/>
            <a:chExt cx="1878040" cy="4872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78040" cy="487281"/>
            </a:xfrm>
            <a:custGeom>
              <a:avLst/>
              <a:gdLst/>
              <a:ahLst/>
              <a:cxnLst/>
              <a:rect l="l" t="t" r="r" b="b"/>
              <a:pathLst>
                <a:path w="1878040" h="487281">
                  <a:moveTo>
                    <a:pt x="0" y="0"/>
                  </a:moveTo>
                  <a:lnTo>
                    <a:pt x="1878040" y="0"/>
                  </a:lnTo>
                  <a:lnTo>
                    <a:pt x="1878040" y="487281"/>
                  </a:lnTo>
                  <a:lnTo>
                    <a:pt x="0" y="487281"/>
                  </a:lnTo>
                  <a:close/>
                </a:path>
              </a:pathLst>
            </a:custGeom>
            <a:ln w="19050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78040" cy="52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207361" y="5583704"/>
            <a:ext cx="3373279" cy="500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7"/>
              </a:lnSpc>
            </a:pPr>
            <a:r>
              <a:rPr lang="en-US" sz="3229" b="1" spc="-67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실습 환경 설정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07361" y="7789002"/>
            <a:ext cx="3373279" cy="500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7"/>
              </a:lnSpc>
            </a:pPr>
            <a:r>
              <a:rPr lang="en-US" sz="3229" b="1" spc="-303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실습 2: 프롬프트 활용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57691" y="5583704"/>
            <a:ext cx="3373279" cy="500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7"/>
              </a:lnSpc>
            </a:pPr>
            <a:r>
              <a:rPr lang="en-US" sz="3229" b="1" spc="-67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실습 1: 분류 모델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57691" y="7789002"/>
            <a:ext cx="3860034" cy="500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7"/>
              </a:lnSpc>
            </a:pPr>
            <a:r>
              <a:rPr lang="en-US" sz="3229" b="1" spc="-335">
                <a:solidFill>
                  <a:srgbClr val="00C4CC"/>
                </a:solidFill>
                <a:latin typeface="Tlab 모던라이프 Medium"/>
                <a:ea typeface="Tlab 모던라이프 Medium"/>
                <a:cs typeface="Tlab 모던라이프 Medium"/>
                <a:sym typeface="Tlab 모던라이프 Medium"/>
              </a:rPr>
              <a:t>권장 학습 활동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29647" y="5570541"/>
            <a:ext cx="2825698" cy="50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Google Colab(무료 GPU) 또는 로컬 Python 환경 사용 가능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29647" y="7775839"/>
            <a:ext cx="2825698" cy="50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ChatGPT로 요약·분류·표 생성 프롬프트 직접 작성 실습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79977" y="5570541"/>
            <a:ext cx="2825698" cy="50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간단한 데이터셋으로 분류 모델 학습 및 정확도 평가 실습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79977" y="7775839"/>
            <a:ext cx="2825698" cy="50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</a:pPr>
            <a:r>
              <a:rPr lang="en-US" sz="1439">
                <a:solidFill>
                  <a:srgbClr val="191919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코드 실행 → 결과 확인 → 파라미터 변경 → 재실험 반복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345273" y="952453"/>
            <a:ext cx="3914027" cy="16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139"/>
              </a:lnSpc>
            </a:pPr>
            <a:r>
              <a:rPr lang="en-US" sz="1200" spc="-58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입문 강의 29/30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95094" y="3438526"/>
            <a:ext cx="10097813" cy="60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Google Colab 또는 로컬 환경에서 직접 실습하며</a:t>
            </a:r>
          </a:p>
          <a:p>
            <a:pPr marL="0" lvl="0" indent="0" algn="ctr">
              <a:lnSpc>
                <a:spcPts val="2466"/>
              </a:lnSpc>
            </a:pPr>
            <a:r>
              <a:rPr lang="en-US" sz="1761" spc="-139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AI 모델 학습과 프롬프트 활용을 경험합니다.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4549" y="2174791"/>
            <a:ext cx="7038901" cy="60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58"/>
              </a:lnSpc>
            </a:pPr>
            <a:r>
              <a:rPr lang="en-US" sz="3998" spc="-191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실습 안내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1854" y="806758"/>
            <a:ext cx="6921360" cy="472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75"/>
              </a:lnSpc>
            </a:pPr>
            <a:r>
              <a:rPr lang="en-US" sz="2768" spc="-135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AI 기초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10606"/>
            <a:chOff x="0" y="0"/>
            <a:chExt cx="4816593" cy="371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1518"/>
            </a:xfrm>
            <a:custGeom>
              <a:avLst/>
              <a:gdLst/>
              <a:ahLst/>
              <a:cxnLst/>
              <a:rect l="l" t="t" r="r" b="b"/>
              <a:pathLst>
                <a:path w="4816592" h="371518">
                  <a:moveTo>
                    <a:pt x="0" y="0"/>
                  </a:moveTo>
                  <a:lnTo>
                    <a:pt x="4816592" y="0"/>
                  </a:lnTo>
                  <a:lnTo>
                    <a:pt x="4816592" y="371518"/>
                  </a:lnTo>
                  <a:lnTo>
                    <a:pt x="0" y="37151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0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57904" y="8009605"/>
            <a:ext cx="14172192" cy="1248695"/>
            <a:chOff x="0" y="0"/>
            <a:chExt cx="3732594" cy="3288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32593" cy="328874"/>
            </a:xfrm>
            <a:custGeom>
              <a:avLst/>
              <a:gdLst/>
              <a:ahLst/>
              <a:cxnLst/>
              <a:rect l="l" t="t" r="r" b="b"/>
              <a:pathLst>
                <a:path w="3732593" h="328874">
                  <a:moveTo>
                    <a:pt x="8740" y="0"/>
                  </a:moveTo>
                  <a:lnTo>
                    <a:pt x="3723853" y="0"/>
                  </a:lnTo>
                  <a:cubicBezTo>
                    <a:pt x="3726171" y="0"/>
                    <a:pt x="3728395" y="921"/>
                    <a:pt x="3730034" y="2560"/>
                  </a:cubicBezTo>
                  <a:cubicBezTo>
                    <a:pt x="3731673" y="4199"/>
                    <a:pt x="3732593" y="6422"/>
                    <a:pt x="3732593" y="8740"/>
                  </a:cubicBezTo>
                  <a:lnTo>
                    <a:pt x="3732593" y="320134"/>
                  </a:lnTo>
                  <a:cubicBezTo>
                    <a:pt x="3732593" y="322452"/>
                    <a:pt x="3731673" y="324675"/>
                    <a:pt x="3730034" y="326314"/>
                  </a:cubicBezTo>
                  <a:cubicBezTo>
                    <a:pt x="3728395" y="327954"/>
                    <a:pt x="3726171" y="328874"/>
                    <a:pt x="3723853" y="328874"/>
                  </a:cubicBezTo>
                  <a:lnTo>
                    <a:pt x="8740" y="328874"/>
                  </a:lnTo>
                  <a:cubicBezTo>
                    <a:pt x="3913" y="328874"/>
                    <a:pt x="0" y="324961"/>
                    <a:pt x="0" y="320134"/>
                  </a:cubicBezTo>
                  <a:lnTo>
                    <a:pt x="0" y="8740"/>
                  </a:lnTo>
                  <a:cubicBezTo>
                    <a:pt x="0" y="3913"/>
                    <a:pt x="3913" y="0"/>
                    <a:pt x="8740" y="0"/>
                  </a:cubicBezTo>
                  <a:close/>
                </a:path>
              </a:pathLst>
            </a:custGeom>
            <a:solidFill>
              <a:srgbClr val="00C4C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3732594" cy="338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057904" y="4392934"/>
            <a:ext cx="3125454" cy="3125454"/>
            <a:chOff x="0" y="0"/>
            <a:chExt cx="658503" cy="6585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8503" cy="658503"/>
            </a:xfrm>
            <a:custGeom>
              <a:avLst/>
              <a:gdLst/>
              <a:ahLst/>
              <a:cxnLst/>
              <a:rect l="l" t="t" r="r" b="b"/>
              <a:pathLst>
                <a:path w="658503" h="658503">
                  <a:moveTo>
                    <a:pt x="329252" y="0"/>
                  </a:moveTo>
                  <a:cubicBezTo>
                    <a:pt x="147411" y="0"/>
                    <a:pt x="0" y="147411"/>
                    <a:pt x="0" y="329252"/>
                  </a:cubicBezTo>
                  <a:cubicBezTo>
                    <a:pt x="0" y="511092"/>
                    <a:pt x="147411" y="658503"/>
                    <a:pt x="329252" y="658503"/>
                  </a:cubicBezTo>
                  <a:cubicBezTo>
                    <a:pt x="511092" y="658503"/>
                    <a:pt x="658503" y="511092"/>
                    <a:pt x="658503" y="329252"/>
                  </a:cubicBezTo>
                  <a:cubicBezTo>
                    <a:pt x="658503" y="147411"/>
                    <a:pt x="511092" y="0"/>
                    <a:pt x="329252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61735" y="52210"/>
              <a:ext cx="535034" cy="544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04641" y="4392934"/>
            <a:ext cx="3125454" cy="3125454"/>
            <a:chOff x="0" y="0"/>
            <a:chExt cx="658503" cy="6585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58503" cy="658503"/>
            </a:xfrm>
            <a:custGeom>
              <a:avLst/>
              <a:gdLst/>
              <a:ahLst/>
              <a:cxnLst/>
              <a:rect l="l" t="t" r="r" b="b"/>
              <a:pathLst>
                <a:path w="658503" h="658503">
                  <a:moveTo>
                    <a:pt x="329252" y="0"/>
                  </a:moveTo>
                  <a:cubicBezTo>
                    <a:pt x="147411" y="0"/>
                    <a:pt x="0" y="147411"/>
                    <a:pt x="0" y="329252"/>
                  </a:cubicBezTo>
                  <a:cubicBezTo>
                    <a:pt x="0" y="511092"/>
                    <a:pt x="147411" y="658503"/>
                    <a:pt x="329252" y="658503"/>
                  </a:cubicBezTo>
                  <a:cubicBezTo>
                    <a:pt x="511092" y="658503"/>
                    <a:pt x="658503" y="511092"/>
                    <a:pt x="658503" y="329252"/>
                  </a:cubicBezTo>
                  <a:cubicBezTo>
                    <a:pt x="658503" y="147411"/>
                    <a:pt x="511092" y="0"/>
                    <a:pt x="329252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61735" y="52210"/>
              <a:ext cx="535034" cy="544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22679" y="4392934"/>
            <a:ext cx="3125454" cy="3125454"/>
            <a:chOff x="0" y="0"/>
            <a:chExt cx="658503" cy="6585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8503" cy="658503"/>
            </a:xfrm>
            <a:custGeom>
              <a:avLst/>
              <a:gdLst/>
              <a:ahLst/>
              <a:cxnLst/>
              <a:rect l="l" t="t" r="r" b="b"/>
              <a:pathLst>
                <a:path w="658503" h="658503">
                  <a:moveTo>
                    <a:pt x="329252" y="0"/>
                  </a:moveTo>
                  <a:cubicBezTo>
                    <a:pt x="147411" y="0"/>
                    <a:pt x="0" y="147411"/>
                    <a:pt x="0" y="329252"/>
                  </a:cubicBezTo>
                  <a:cubicBezTo>
                    <a:pt x="0" y="511092"/>
                    <a:pt x="147411" y="658503"/>
                    <a:pt x="329252" y="658503"/>
                  </a:cubicBezTo>
                  <a:cubicBezTo>
                    <a:pt x="511092" y="658503"/>
                    <a:pt x="658503" y="511092"/>
                    <a:pt x="658503" y="329252"/>
                  </a:cubicBezTo>
                  <a:cubicBezTo>
                    <a:pt x="658503" y="147411"/>
                    <a:pt x="511092" y="0"/>
                    <a:pt x="329252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61735" y="52210"/>
              <a:ext cx="535034" cy="544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13660" y="4395023"/>
            <a:ext cx="3125454" cy="3125454"/>
            <a:chOff x="0" y="0"/>
            <a:chExt cx="658503" cy="6585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58503" cy="658503"/>
            </a:xfrm>
            <a:custGeom>
              <a:avLst/>
              <a:gdLst/>
              <a:ahLst/>
              <a:cxnLst/>
              <a:rect l="l" t="t" r="r" b="b"/>
              <a:pathLst>
                <a:path w="658503" h="658503">
                  <a:moveTo>
                    <a:pt x="329252" y="0"/>
                  </a:moveTo>
                  <a:cubicBezTo>
                    <a:pt x="147411" y="0"/>
                    <a:pt x="0" y="147411"/>
                    <a:pt x="0" y="329252"/>
                  </a:cubicBezTo>
                  <a:cubicBezTo>
                    <a:pt x="0" y="511092"/>
                    <a:pt x="147411" y="658503"/>
                    <a:pt x="329252" y="658503"/>
                  </a:cubicBezTo>
                  <a:cubicBezTo>
                    <a:pt x="511092" y="658503"/>
                    <a:pt x="658503" y="511092"/>
                    <a:pt x="658503" y="329252"/>
                  </a:cubicBezTo>
                  <a:cubicBezTo>
                    <a:pt x="658503" y="147411"/>
                    <a:pt x="511092" y="0"/>
                    <a:pt x="329252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61735" y="52210"/>
              <a:ext cx="535034" cy="544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345273" y="952453"/>
            <a:ext cx="3914027" cy="162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148"/>
              </a:lnSpc>
            </a:pPr>
            <a:r>
              <a:rPr lang="en-US" sz="1208" spc="-59">
                <a:solidFill>
                  <a:srgbClr val="000000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AI 기초 (입문) — 30/30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95094" y="3140513"/>
            <a:ext cx="10097813" cy="621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3"/>
              </a:lnSpc>
            </a:pPr>
            <a:r>
              <a:rPr lang="en-US" sz="1773" spc="-140">
                <a:solidFill>
                  <a:srgbClr val="2C2C2C"/>
                </a:solidFill>
                <a:latin typeface="Tlab 모던라이프 Light"/>
                <a:ea typeface="Tlab 모던라이프 Light"/>
                <a:cs typeface="Tlab 모던라이프 Light"/>
                <a:sym typeface="Tlab 모던라이프 Light"/>
              </a:rPr>
              <a:t>AI ⊃ 머신러닝 ⊃ 딥러닝 · 데이터와 모델이 학습의 핵심 · 손실함수로 파라미터를 최적화 · CNN·NLP·LLM으로 확장 · 윤리와 검증은 필수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24549" y="2103553"/>
            <a:ext cx="7038901" cy="76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23"/>
              </a:lnSpc>
            </a:pPr>
            <a:r>
              <a:rPr lang="en-US" sz="5196" spc="-249">
                <a:solidFill>
                  <a:srgbClr val="2C2C2C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오늘 강의 핵심 요약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13208" y="8386689"/>
            <a:ext cx="13175756" cy="5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FFFFFF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Q&amp;A 시간 — 질문을 환영합니다 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15750" y="5425503"/>
            <a:ext cx="2409763" cy="5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161616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데이터 분석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415750" y="6307649"/>
            <a:ext cx="2409763" cy="57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4"/>
              </a:lnSpc>
            </a:pPr>
            <a:r>
              <a:rPr lang="en-US" sz="1933" spc="-92">
                <a:solidFill>
                  <a:srgbClr val="161616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pandas, 시각화, 통계 기초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463040" y="5425503"/>
            <a:ext cx="2409763" cy="5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161616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생성형 AI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463040" y="6445762"/>
            <a:ext cx="2409763" cy="300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4"/>
              </a:lnSpc>
            </a:pPr>
            <a:r>
              <a:rPr lang="en-US" sz="1933" spc="-92">
                <a:solidFill>
                  <a:srgbClr val="161616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LLM, 프롬프트, RAG 활용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80525" y="5425503"/>
            <a:ext cx="2409763" cy="5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161616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머신러닝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80525" y="6445762"/>
            <a:ext cx="2409763" cy="300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4"/>
              </a:lnSpc>
            </a:pPr>
            <a:r>
              <a:rPr lang="en-US" sz="1933" spc="-92">
                <a:solidFill>
                  <a:srgbClr val="161616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sklearn, 분류·회귀 실습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71506" y="5425503"/>
            <a:ext cx="2409763" cy="53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1"/>
              </a:lnSpc>
            </a:pPr>
            <a:r>
              <a:rPr lang="en-US" sz="3597" spc="-172">
                <a:solidFill>
                  <a:srgbClr val="161616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딥러닝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71506" y="6445762"/>
            <a:ext cx="2409763" cy="300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4"/>
              </a:lnSpc>
            </a:pPr>
            <a:r>
              <a:rPr lang="en-US" sz="1933" spc="-92">
                <a:solidFill>
                  <a:srgbClr val="161616"/>
                </a:solidFill>
                <a:latin typeface="210 햄스터 Light"/>
                <a:ea typeface="210 햄스터 Light"/>
                <a:cs typeface="210 햄스터 Light"/>
                <a:sym typeface="210 햄스터 Light"/>
              </a:rPr>
              <a:t>PyTorch, CNN, NLP 실습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1854" y="787708"/>
            <a:ext cx="6921360" cy="622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6"/>
              </a:lnSpc>
            </a:pPr>
            <a:r>
              <a:rPr lang="en-US" sz="3597" spc="-176">
                <a:solidFill>
                  <a:srgbClr val="000000"/>
                </a:solidFill>
                <a:latin typeface="210 햄스터 Bold"/>
                <a:ea typeface="210 햄스터 Bold"/>
                <a:cs typeface="210 햄스터 Bold"/>
                <a:sym typeface="210 햄스터 Bold"/>
              </a:rPr>
              <a:t>정리와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2298</Words>
  <Application>Microsoft Office PowerPoint</Application>
  <PresentationFormat>사용자 지정</PresentationFormat>
  <Paragraphs>433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2" baseType="lpstr">
      <vt:lpstr>210 햄스터 Bold</vt:lpstr>
      <vt:lpstr>Calibri</vt:lpstr>
      <vt:lpstr>Arial</vt:lpstr>
      <vt:lpstr>Tlab 모던라이프 Light</vt:lpstr>
      <vt:lpstr>맑은 고딕</vt:lpstr>
      <vt:lpstr>210 햄스터 Light</vt:lpstr>
      <vt:lpstr>Tlab 모던라이프 Medium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기초 30p 슬라이드 구성안</dc:title>
  <cp:lastModifiedBy>User</cp:lastModifiedBy>
  <cp:revision>5</cp:revision>
  <dcterms:created xsi:type="dcterms:W3CDTF">2006-08-16T00:00:00Z</dcterms:created>
  <dcterms:modified xsi:type="dcterms:W3CDTF">2026-10-05T23:39:02Z</dcterms:modified>
  <dc:identifier>DAHUHQ1q6R0</dc:identifier>
</cp:coreProperties>
</file>